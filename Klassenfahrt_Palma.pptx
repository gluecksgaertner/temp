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11F8F3-DB60-49CB-BC6E-F00C86E82644}">
  <a:tblStyle styleId="{3011F8F3-DB60-49CB-BC6E-F00C86E8264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8.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4D68"/>
        </a:solidFill>
      </p:bgPr>
    </p:bg>
    <p:spTree>
      <p:nvGrpSpPr>
        <p:cNvPr id="15" name="Shape 15"/>
        <p:cNvGrpSpPr/>
        <p:nvPr/>
      </p:nvGrpSpPr>
      <p:grpSpPr>
        <a:xfrm>
          <a:off x="0" y="0"/>
          <a:ext cx="0" cy="0"/>
          <a:chOff x="0" y="0"/>
          <a:chExt cx="0" cy="0"/>
        </a:xfrm>
      </p:grpSpPr>
      <p:sp>
        <p:nvSpPr>
          <p:cNvPr id="16" name="Google Shape;16;p3"/>
          <p:cNvSpPr/>
          <p:nvPr/>
        </p:nvSpPr>
        <p:spPr>
          <a:xfrm>
            <a:off x="9646920" y="-1234440"/>
            <a:ext cx="3291840" cy="3291840"/>
          </a:xfrm>
          <a:prstGeom prst="ellipse">
            <a:avLst/>
          </a:prstGeom>
          <a:solidFill>
            <a:srgbClr val="E9B44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241280" y="-640080"/>
            <a:ext cx="2103120" cy="210312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40080" y="132588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EIN VORSCHLAG VON UNS FÜR SIE</a:t>
            </a:r>
            <a:endParaRPr b="0" i="0" sz="1250" u="none" cap="none" strike="noStrike">
              <a:solidFill>
                <a:schemeClr val="dk1"/>
              </a:solidFill>
              <a:latin typeface="Calibri"/>
              <a:ea typeface="Calibri"/>
              <a:cs typeface="Calibri"/>
              <a:sym typeface="Calibri"/>
            </a:endParaRPr>
          </a:p>
        </p:txBody>
      </p:sp>
      <p:sp>
        <p:nvSpPr>
          <p:cNvPr id="19" name="Google Shape;19;p3"/>
          <p:cNvSpPr/>
          <p:nvPr/>
        </p:nvSpPr>
        <p:spPr>
          <a:xfrm>
            <a:off x="640080" y="1783080"/>
            <a:ext cx="8778240" cy="1737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Unsere Idee: fünf Tage</a:t>
            </a:r>
            <a:endParaRPr b="0" i="0" sz="4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nach Palma de Mallorca</a:t>
            </a:r>
            <a:endParaRPr b="0" i="0" sz="4600" u="none" cap="none" strike="noStrike">
              <a:solidFill>
                <a:schemeClr val="dk1"/>
              </a:solidFill>
              <a:latin typeface="Calibri"/>
              <a:ea typeface="Calibri"/>
              <a:cs typeface="Calibri"/>
              <a:sym typeface="Calibri"/>
            </a:endParaRPr>
          </a:p>
        </p:txBody>
      </p:sp>
      <p:sp>
        <p:nvSpPr>
          <p:cNvPr id="20" name="Google Shape;20;p3"/>
          <p:cNvSpPr/>
          <p:nvPr/>
        </p:nvSpPr>
        <p:spPr>
          <a:xfrm>
            <a:off x="640080" y="3611880"/>
            <a:ext cx="8961120" cy="10972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FE6EC"/>
              </a:buClr>
              <a:buSzPts val="1650"/>
              <a:buFont typeface="Calibri"/>
              <a:buNone/>
            </a:pPr>
            <a:r>
              <a:rPr b="0" i="0" lang="en-US" sz="1650" u="none" cap="none" strike="noStrike">
                <a:solidFill>
                  <a:srgbClr val="CFE6EC"/>
                </a:solidFill>
                <a:latin typeface="Calibri"/>
                <a:ea typeface="Calibri"/>
                <a:cs typeface="Calibri"/>
                <a:sym typeface="Calibri"/>
              </a:rPr>
              <a:t>Wir würden mit dem Spanischkurs, dem Lateinkurs und unseren Klassen gerne zusammen auf Klassenfahrt gehen. Auf den nächsten Folien zeigen wir, warum Palma gut passt und dass es nicht zu teuer wird.</a:t>
            </a:r>
            <a:endParaRPr b="0" i="0" sz="165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640080" y="5120640"/>
            <a:ext cx="10972800" cy="0"/>
          </a:xfrm>
          <a:prstGeom prst="straightConnector1">
            <a:avLst/>
          </a:prstGeom>
          <a:noFill/>
          <a:ln cap="flat" cmpd="sng" w="12700">
            <a:solidFill>
              <a:srgbClr val="088395"/>
            </a:solidFill>
            <a:prstDash val="solid"/>
            <a:round/>
            <a:headEnd len="sm" w="sm" type="none"/>
            <a:tailEnd len="sm" w="sm" type="none"/>
          </a:ln>
        </p:spPr>
      </p:cxnSp>
      <p:sp>
        <p:nvSpPr>
          <p:cNvPr id="22" name="Google Shape;22;p3"/>
          <p:cNvSpPr/>
          <p:nvPr/>
        </p:nvSpPr>
        <p:spPr>
          <a:xfrm>
            <a:off x="640080"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65</a:t>
            </a:r>
            <a:endParaRPr b="0" i="0" sz="2800" u="none" cap="none" strike="noStrike">
              <a:solidFill>
                <a:schemeClr val="dk1"/>
              </a:solidFill>
              <a:latin typeface="Calibri"/>
              <a:ea typeface="Calibri"/>
              <a:cs typeface="Calibri"/>
              <a:sym typeface="Calibri"/>
            </a:endParaRPr>
          </a:p>
        </p:txBody>
      </p:sp>
      <p:sp>
        <p:nvSpPr>
          <p:cNvPr id="23" name="Google Shape;23;p3"/>
          <p:cNvSpPr/>
          <p:nvPr/>
        </p:nvSpPr>
        <p:spPr>
          <a:xfrm>
            <a:off x="640080"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Personen</a:t>
            </a:r>
            <a:endParaRPr b="0" i="0" sz="1300" u="none" cap="none" strike="noStrike">
              <a:solidFill>
                <a:schemeClr val="dk1"/>
              </a:solidFill>
              <a:latin typeface="Calibri"/>
              <a:ea typeface="Calibri"/>
              <a:cs typeface="Calibri"/>
              <a:sym typeface="Calibri"/>
            </a:endParaRPr>
          </a:p>
        </p:txBody>
      </p:sp>
      <p:sp>
        <p:nvSpPr>
          <p:cNvPr id="24" name="Google Shape;24;p3"/>
          <p:cNvSpPr/>
          <p:nvPr/>
        </p:nvSpPr>
        <p:spPr>
          <a:xfrm>
            <a:off x="3410712"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5</a:t>
            </a:r>
            <a:endParaRPr b="0" i="0" sz="2800" u="none" cap="none" strike="noStrike">
              <a:solidFill>
                <a:schemeClr val="dk1"/>
              </a:solidFill>
              <a:latin typeface="Calibri"/>
              <a:ea typeface="Calibri"/>
              <a:cs typeface="Calibri"/>
              <a:sym typeface="Calibri"/>
            </a:endParaRPr>
          </a:p>
        </p:txBody>
      </p:sp>
      <p:sp>
        <p:nvSpPr>
          <p:cNvPr id="25" name="Google Shape;25;p3"/>
          <p:cNvSpPr/>
          <p:nvPr/>
        </p:nvSpPr>
        <p:spPr>
          <a:xfrm>
            <a:off x="3410712"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Tage</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6181344"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ab ~300 €</a:t>
            </a:r>
            <a:endParaRPr b="0" i="0" sz="2800" u="none" cap="none" strike="noStrike">
              <a:solidFill>
                <a:schemeClr val="dk1"/>
              </a:solidFill>
              <a:latin typeface="Calibri"/>
              <a:ea typeface="Calibri"/>
              <a:cs typeface="Calibri"/>
              <a:sym typeface="Calibri"/>
            </a:endParaRPr>
          </a:p>
        </p:txBody>
      </p:sp>
      <p:sp>
        <p:nvSpPr>
          <p:cNvPr id="27" name="Google Shape;27;p3"/>
          <p:cNvSpPr/>
          <p:nvPr/>
        </p:nvSpPr>
        <p:spPr>
          <a:xfrm>
            <a:off x="6181344"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pro Person</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8951976"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2,5 Std.</a:t>
            </a:r>
            <a:endParaRPr b="0" i="0" sz="2800" u="none" cap="none" strike="noStrike">
              <a:solidFill>
                <a:schemeClr val="dk1"/>
              </a:solidFill>
              <a:latin typeface="Calibri"/>
              <a:ea typeface="Calibri"/>
              <a:cs typeface="Calibri"/>
              <a:sym typeface="Calibri"/>
            </a:endParaRPr>
          </a:p>
        </p:txBody>
      </p:sp>
      <p:sp>
        <p:nvSpPr>
          <p:cNvPr id="29" name="Google Shape;29;p3"/>
          <p:cNvSpPr/>
          <p:nvPr/>
        </p:nvSpPr>
        <p:spPr>
          <a:xfrm>
            <a:off x="8951976"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Direktflug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4"/>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UNSERE IDEE</a:t>
            </a:r>
            <a:endParaRPr b="0" i="0" sz="1250" u="none" cap="none" strike="noStrike">
              <a:solidFill>
                <a:schemeClr val="dk1"/>
              </a:solidFill>
              <a:latin typeface="Calibri"/>
              <a:ea typeface="Calibri"/>
              <a:cs typeface="Calibri"/>
              <a:sym typeface="Calibri"/>
            </a:endParaRPr>
          </a:p>
        </p:txBody>
      </p:sp>
      <p:sp>
        <p:nvSpPr>
          <p:cNvPr id="36" name="Google Shape;36;p4"/>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Eine Fahrt, von der alle etwas haben</a:t>
            </a:r>
            <a:endParaRPr b="0" i="0" sz="3100" u="none" cap="none" strike="noStrike">
              <a:solidFill>
                <a:schemeClr val="dk1"/>
              </a:solidFill>
              <a:latin typeface="Calibri"/>
              <a:ea typeface="Calibri"/>
              <a:cs typeface="Calibri"/>
              <a:sym typeface="Calibri"/>
            </a:endParaRPr>
          </a:p>
        </p:txBody>
      </p:sp>
      <p:sp>
        <p:nvSpPr>
          <p:cNvPr id="37" name="Google Shape;37;p4"/>
          <p:cNvSpPr/>
          <p:nvPr/>
        </p:nvSpPr>
        <p:spPr>
          <a:xfrm>
            <a:off x="640080" y="1536192"/>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Wir möchten nicht drei einzelne Ausflüge machen, sondern alle zusammen fahren. Das ist schöner und kostet pro Person weniger.</a:t>
            </a:r>
            <a:endParaRPr b="0" i="0" sz="1550" u="none" cap="none" strike="noStrike">
              <a:solidFill>
                <a:schemeClr val="dk1"/>
              </a:solidFill>
              <a:latin typeface="Calibri"/>
              <a:ea typeface="Calibri"/>
              <a:cs typeface="Calibri"/>
              <a:sym typeface="Calibri"/>
            </a:endParaRPr>
          </a:p>
        </p:txBody>
      </p:sp>
      <p:sp>
        <p:nvSpPr>
          <p:cNvPr id="38" name="Google Shape;38;p4"/>
          <p:cNvSpPr/>
          <p:nvPr/>
        </p:nvSpPr>
        <p:spPr>
          <a:xfrm>
            <a:off x="640080"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40080" y="2240280"/>
            <a:ext cx="3456432" cy="146304"/>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05840" y="2697480"/>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4"/>
          <p:cNvPicPr preferRelativeResize="0"/>
          <p:nvPr/>
        </p:nvPicPr>
        <p:blipFill rotWithShape="1">
          <a:blip r:embed="rId3">
            <a:alphaModFix/>
          </a:blip>
          <a:srcRect b="0" l="0" r="0" t="0"/>
          <a:stretch/>
        </p:blipFill>
        <p:spPr>
          <a:xfrm>
            <a:off x="1223010" y="2914650"/>
            <a:ext cx="434340" cy="434340"/>
          </a:xfrm>
          <a:prstGeom prst="rect">
            <a:avLst/>
          </a:prstGeom>
          <a:noFill/>
          <a:ln>
            <a:noFill/>
          </a:ln>
        </p:spPr>
      </p:pic>
      <p:sp>
        <p:nvSpPr>
          <p:cNvPr id="42" name="Google Shape;42;p4"/>
          <p:cNvSpPr/>
          <p:nvPr/>
        </p:nvSpPr>
        <p:spPr>
          <a:xfrm>
            <a:off x="1005840"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Alle fahren zusammen</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005840"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Wir nehmen denselben Flug und wohnen im selben Haus. Weil wir eine so große Gruppe sind, wird es für jeden Einzelnen günstiger.</a:t>
            </a:r>
            <a:endParaRPr b="0" i="0" sz="1450" u="none" cap="none" strike="noStrike">
              <a:solidFill>
                <a:schemeClr val="dk1"/>
              </a:solidFill>
              <a:latin typeface="Calibri"/>
              <a:ea typeface="Calibri"/>
              <a:cs typeface="Calibri"/>
              <a:sym typeface="Calibri"/>
            </a:endParaRPr>
          </a:p>
        </p:txBody>
      </p:sp>
      <p:sp>
        <p:nvSpPr>
          <p:cNvPr id="44" name="Google Shape;44;p4"/>
          <p:cNvSpPr/>
          <p:nvPr/>
        </p:nvSpPr>
        <p:spPr>
          <a:xfrm>
            <a:off x="4370832"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370832" y="2240280"/>
            <a:ext cx="3456432" cy="146304"/>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736592" y="2697480"/>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4"/>
          <p:cNvPicPr preferRelativeResize="0"/>
          <p:nvPr/>
        </p:nvPicPr>
        <p:blipFill rotWithShape="1">
          <a:blip r:embed="rId4">
            <a:alphaModFix/>
          </a:blip>
          <a:srcRect b="0" l="0" r="0" t="0"/>
          <a:stretch/>
        </p:blipFill>
        <p:spPr>
          <a:xfrm>
            <a:off x="4953762" y="2914650"/>
            <a:ext cx="434340" cy="434340"/>
          </a:xfrm>
          <a:prstGeom prst="rect">
            <a:avLst/>
          </a:prstGeom>
          <a:noFill/>
          <a:ln>
            <a:noFill/>
          </a:ln>
        </p:spPr>
      </p:pic>
      <p:sp>
        <p:nvSpPr>
          <p:cNvPr id="48" name="Google Shape;48;p4"/>
          <p:cNvSpPr/>
          <p:nvPr/>
        </p:nvSpPr>
        <p:spPr>
          <a:xfrm>
            <a:off x="4736592"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Jeder Kurs lernt etwas</a:t>
            </a:r>
            <a:endParaRPr b="0" i="0" sz="1800" u="none" cap="none" strike="noStrike">
              <a:solidFill>
                <a:schemeClr val="dk1"/>
              </a:solidFill>
              <a:latin typeface="Calibri"/>
              <a:ea typeface="Calibri"/>
              <a:cs typeface="Calibri"/>
              <a:sym typeface="Calibri"/>
            </a:endParaRPr>
          </a:p>
        </p:txBody>
      </p:sp>
      <p:sp>
        <p:nvSpPr>
          <p:cNvPr id="49" name="Google Shape;49;p4"/>
          <p:cNvSpPr/>
          <p:nvPr/>
        </p:nvSpPr>
        <p:spPr>
          <a:xfrm>
            <a:off x="4736592"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Im Spanischkurs können wir die Sprache wirklich benutzen. Der Lateinkurs schaut sich eine echte römische Stadt an. Und alle sehen die Insel.</a:t>
            </a:r>
            <a:endParaRPr b="0" i="0" sz="1450" u="none" cap="none" strike="noStrike">
              <a:solidFill>
                <a:schemeClr val="dk1"/>
              </a:solidFill>
              <a:latin typeface="Calibri"/>
              <a:ea typeface="Calibri"/>
              <a:cs typeface="Calibri"/>
              <a:sym typeface="Calibri"/>
            </a:endParaRPr>
          </a:p>
        </p:txBody>
      </p:sp>
      <p:sp>
        <p:nvSpPr>
          <p:cNvPr id="50" name="Google Shape;50;p4"/>
          <p:cNvSpPr/>
          <p:nvPr/>
        </p:nvSpPr>
        <p:spPr>
          <a:xfrm>
            <a:off x="8101584"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8101584" y="2240280"/>
            <a:ext cx="3456432" cy="146304"/>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8467344" y="2697480"/>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4"/>
          <p:cNvPicPr preferRelativeResize="0"/>
          <p:nvPr/>
        </p:nvPicPr>
        <p:blipFill rotWithShape="1">
          <a:blip r:embed="rId5">
            <a:alphaModFix/>
          </a:blip>
          <a:srcRect b="0" l="0" r="0" t="0"/>
          <a:stretch/>
        </p:blipFill>
        <p:spPr>
          <a:xfrm>
            <a:off x="8684514" y="2914650"/>
            <a:ext cx="434340" cy="434340"/>
          </a:xfrm>
          <a:prstGeom prst="rect">
            <a:avLst/>
          </a:prstGeom>
          <a:noFill/>
          <a:ln>
            <a:noFill/>
          </a:ln>
        </p:spPr>
      </p:pic>
      <p:sp>
        <p:nvSpPr>
          <p:cNvPr id="54" name="Google Shape;54;p4"/>
          <p:cNvSpPr/>
          <p:nvPr/>
        </p:nvSpPr>
        <p:spPr>
          <a:xfrm>
            <a:off x="8467344"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Wir kommen uns näher</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8467344"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Fünf Tage zusammen machen einfach Spaß. Schüler aus verschiedenen Klassen und Kursen lernen sich so endlich besser kennen.</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5"/>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WARUM GERADE PALMA</a:t>
            </a:r>
            <a:endParaRPr b="0" i="0" sz="1250" u="none" cap="none" strike="noStrike">
              <a:solidFill>
                <a:schemeClr val="dk1"/>
              </a:solidFill>
              <a:latin typeface="Calibri"/>
              <a:ea typeface="Calibri"/>
              <a:cs typeface="Calibri"/>
              <a:sym typeface="Calibri"/>
            </a:endParaRPr>
          </a:p>
        </p:txBody>
      </p:sp>
      <p:sp>
        <p:nvSpPr>
          <p:cNvPr id="62" name="Google Shape;62;p5"/>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Warum Palma gut zu uns passt</a:t>
            </a:r>
            <a:endParaRPr b="0" i="0" sz="3100" u="none" cap="none" strike="noStrike">
              <a:solidFill>
                <a:schemeClr val="dk1"/>
              </a:solidFill>
              <a:latin typeface="Calibri"/>
              <a:ea typeface="Calibri"/>
              <a:cs typeface="Calibri"/>
              <a:sym typeface="Calibri"/>
            </a:endParaRPr>
          </a:p>
        </p:txBody>
      </p:sp>
      <p:sp>
        <p:nvSpPr>
          <p:cNvPr id="63" name="Google Shape;63;p5"/>
          <p:cNvSpPr/>
          <p:nvPr/>
        </p:nvSpPr>
        <p:spPr>
          <a:xfrm>
            <a:off x="640080" y="1783080"/>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005840" y="2258568"/>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5"/>
          <p:cNvPicPr preferRelativeResize="0"/>
          <p:nvPr/>
        </p:nvPicPr>
        <p:blipFill rotWithShape="1">
          <a:blip r:embed="rId3">
            <a:alphaModFix/>
          </a:blip>
          <a:srcRect b="0" l="0" r="0" t="0"/>
          <a:stretch/>
        </p:blipFill>
        <p:spPr>
          <a:xfrm>
            <a:off x="1223010" y="2475738"/>
            <a:ext cx="434340" cy="434340"/>
          </a:xfrm>
          <a:prstGeom prst="rect">
            <a:avLst/>
          </a:prstGeom>
          <a:noFill/>
          <a:ln>
            <a:noFill/>
          </a:ln>
        </p:spPr>
      </p:pic>
      <p:sp>
        <p:nvSpPr>
          <p:cNvPr id="66" name="Google Shape;66;p5"/>
          <p:cNvSpPr/>
          <p:nvPr/>
        </p:nvSpPr>
        <p:spPr>
          <a:xfrm>
            <a:off x="2103120" y="2167128"/>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Spanisch sprechen</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2103120" y="2624328"/>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Auf dem Markt, im Café und in Geschäften können wir Spanisch ausprobieren, statt nur im Buch zu lesen.</a:t>
            </a:r>
            <a:endParaRPr b="0" i="0" sz="1400" u="none" cap="none" strike="noStrike">
              <a:solidFill>
                <a:schemeClr val="dk1"/>
              </a:solidFill>
              <a:latin typeface="Calibri"/>
              <a:ea typeface="Calibri"/>
              <a:cs typeface="Calibri"/>
              <a:sym typeface="Calibri"/>
            </a:endParaRPr>
          </a:p>
        </p:txBody>
      </p:sp>
      <p:sp>
        <p:nvSpPr>
          <p:cNvPr id="68" name="Google Shape;68;p5"/>
          <p:cNvSpPr/>
          <p:nvPr/>
        </p:nvSpPr>
        <p:spPr>
          <a:xfrm>
            <a:off x="6291072" y="1783080"/>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656832" y="2258568"/>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 name="Google Shape;70;p5"/>
          <p:cNvPicPr preferRelativeResize="0"/>
          <p:nvPr/>
        </p:nvPicPr>
        <p:blipFill rotWithShape="1">
          <a:blip r:embed="rId4">
            <a:alphaModFix/>
          </a:blip>
          <a:srcRect b="0" l="0" r="0" t="0"/>
          <a:stretch/>
        </p:blipFill>
        <p:spPr>
          <a:xfrm>
            <a:off x="6874002" y="2475738"/>
            <a:ext cx="434340" cy="434340"/>
          </a:xfrm>
          <a:prstGeom prst="rect">
            <a:avLst/>
          </a:prstGeom>
          <a:noFill/>
          <a:ln>
            <a:noFill/>
          </a:ln>
        </p:spPr>
      </p:pic>
      <p:sp>
        <p:nvSpPr>
          <p:cNvPr id="71" name="Google Shape;71;p5"/>
          <p:cNvSpPr/>
          <p:nvPr/>
        </p:nvSpPr>
        <p:spPr>
          <a:xfrm>
            <a:off x="7754112" y="2167128"/>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Viel zu sehen</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7754112" y="2624328"/>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Die große Kathedrale, die alten Gassen, eine Burg über der Stadt und das Museum von Joan Miró.</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640080" y="3995928"/>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005840" y="4471416"/>
            <a:ext cx="868680" cy="868680"/>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5"/>
          <p:cNvPicPr preferRelativeResize="0"/>
          <p:nvPr/>
        </p:nvPicPr>
        <p:blipFill rotWithShape="1">
          <a:blip r:embed="rId5">
            <a:alphaModFix/>
          </a:blip>
          <a:srcRect b="0" l="0" r="0" t="0"/>
          <a:stretch/>
        </p:blipFill>
        <p:spPr>
          <a:xfrm>
            <a:off x="1223010" y="4688586"/>
            <a:ext cx="434340" cy="434340"/>
          </a:xfrm>
          <a:prstGeom prst="rect">
            <a:avLst/>
          </a:prstGeom>
          <a:noFill/>
          <a:ln>
            <a:noFill/>
          </a:ln>
        </p:spPr>
      </p:pic>
      <p:sp>
        <p:nvSpPr>
          <p:cNvPr id="76" name="Google Shape;76;p5"/>
          <p:cNvSpPr/>
          <p:nvPr/>
        </p:nvSpPr>
        <p:spPr>
          <a:xfrm>
            <a:off x="2103120" y="4379976"/>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Römer zum Anschauen</a:t>
            </a:r>
            <a:endParaRPr b="0" i="0" sz="1800" u="none" cap="none" strike="noStrike">
              <a:solidFill>
                <a:schemeClr val="dk1"/>
              </a:solidFill>
              <a:latin typeface="Calibri"/>
              <a:ea typeface="Calibri"/>
              <a:cs typeface="Calibri"/>
              <a:sym typeface="Calibri"/>
            </a:endParaRPr>
          </a:p>
        </p:txBody>
      </p:sp>
      <p:sp>
        <p:nvSpPr>
          <p:cNvPr id="77" name="Google Shape;77;p5"/>
          <p:cNvSpPr/>
          <p:nvPr/>
        </p:nvSpPr>
        <p:spPr>
          <a:xfrm>
            <a:off x="2103120" y="4837176"/>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In Pollentia steht eine echte römische Stadt, die sich der Lateinkurs in Ruhe ansehen kann.</a:t>
            </a:r>
            <a:endParaRPr b="0" i="0" sz="1400" u="none" cap="none" strike="noStrike">
              <a:solidFill>
                <a:schemeClr val="dk1"/>
              </a:solidFill>
              <a:latin typeface="Calibri"/>
              <a:ea typeface="Calibri"/>
              <a:cs typeface="Calibri"/>
              <a:sym typeface="Calibri"/>
            </a:endParaRPr>
          </a:p>
        </p:txBody>
      </p:sp>
      <p:sp>
        <p:nvSpPr>
          <p:cNvPr id="78" name="Google Shape;78;p5"/>
          <p:cNvSpPr/>
          <p:nvPr/>
        </p:nvSpPr>
        <p:spPr>
          <a:xfrm>
            <a:off x="6291072" y="3995928"/>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656832" y="4471416"/>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6">
            <a:alphaModFix/>
          </a:blip>
          <a:srcRect b="0" l="0" r="0" t="0"/>
          <a:stretch/>
        </p:blipFill>
        <p:spPr>
          <a:xfrm>
            <a:off x="6874002" y="4688586"/>
            <a:ext cx="434340" cy="434340"/>
          </a:xfrm>
          <a:prstGeom prst="rect">
            <a:avLst/>
          </a:prstGeom>
          <a:noFill/>
          <a:ln>
            <a:noFill/>
          </a:ln>
        </p:spPr>
      </p:pic>
      <p:sp>
        <p:nvSpPr>
          <p:cNvPr id="81" name="Google Shape;81;p5"/>
          <p:cNvSpPr/>
          <p:nvPr/>
        </p:nvSpPr>
        <p:spPr>
          <a:xfrm>
            <a:off x="7754112" y="4379976"/>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Schnell zu erreichen</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7754112" y="4837176"/>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Von Münster/Osnabrück fliegen wir ohne Umsteigen in etwa zweieinhalb Stunden hin.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8395"/>
              </a:buClr>
              <a:buSzPts val="1250"/>
              <a:buFont typeface="Calibri"/>
              <a:buNone/>
            </a:pPr>
            <a:r>
              <a:rPr b="1" i="0" lang="en-US" sz="1250" u="none" cap="none" strike="noStrike">
                <a:solidFill>
                  <a:srgbClr val="088395"/>
                </a:solidFill>
                <a:latin typeface="Calibri"/>
                <a:ea typeface="Calibri"/>
                <a:cs typeface="Calibri"/>
                <a:sym typeface="Calibri"/>
              </a:rPr>
              <a:t>FÜR DEN SPANISCHKURS</a:t>
            </a:r>
            <a:endParaRPr b="0" i="0" sz="1250" u="none" cap="none" strike="noStrike">
              <a:solidFill>
                <a:schemeClr val="dk1"/>
              </a:solidFill>
              <a:latin typeface="Calibri"/>
              <a:ea typeface="Calibri"/>
              <a:cs typeface="Calibri"/>
              <a:sym typeface="Calibri"/>
            </a:endParaRPr>
          </a:p>
        </p:txBody>
      </p:sp>
      <p:sp>
        <p:nvSpPr>
          <p:cNvPr id="89" name="Google Shape;89;p6"/>
          <p:cNvSpPr/>
          <p:nvPr/>
        </p:nvSpPr>
        <p:spPr>
          <a:xfrm>
            <a:off x="640080" y="822960"/>
            <a:ext cx="6400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Spanisch, das wir wirklich benutzen</a:t>
            </a:r>
            <a:endParaRPr b="0" i="0" sz="3100" u="none" cap="none" strike="noStrike">
              <a:solidFill>
                <a:schemeClr val="dk1"/>
              </a:solidFill>
              <a:latin typeface="Calibri"/>
              <a:ea typeface="Calibri"/>
              <a:cs typeface="Calibri"/>
              <a:sym typeface="Calibri"/>
            </a:endParaRPr>
          </a:p>
        </p:txBody>
      </p:sp>
      <p:sp>
        <p:nvSpPr>
          <p:cNvPr id="90" name="Google Shape;90;p6"/>
          <p:cNvSpPr/>
          <p:nvPr/>
        </p:nvSpPr>
        <p:spPr>
          <a:xfrm>
            <a:off x="640080" y="1691640"/>
            <a:ext cx="6126480" cy="685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88395"/>
              </a:buClr>
              <a:buSzPts val="1600"/>
              <a:buFont typeface="Calibri"/>
              <a:buNone/>
            </a:pPr>
            <a:r>
              <a:rPr b="0" i="1" lang="en-US" sz="1600" u="none" cap="none" strike="noStrike">
                <a:solidFill>
                  <a:srgbClr val="088395"/>
                </a:solidFill>
                <a:latin typeface="Calibri"/>
                <a:ea typeface="Calibri"/>
                <a:cs typeface="Calibri"/>
                <a:sym typeface="Calibri"/>
              </a:rPr>
              <a:t>Im Unterricht lernen wir viele Wörter. In Palma können wir sie endlich im echten Leben ausprobieren.</a:t>
            </a:r>
            <a:endParaRPr b="0" i="0" sz="1600" u="none" cap="none" strike="noStrike">
              <a:solidFill>
                <a:schemeClr val="dk1"/>
              </a:solidFill>
              <a:latin typeface="Calibri"/>
              <a:ea typeface="Calibri"/>
              <a:cs typeface="Calibri"/>
              <a:sym typeface="Calibri"/>
            </a:endParaRPr>
          </a:p>
        </p:txBody>
      </p:sp>
      <p:sp>
        <p:nvSpPr>
          <p:cNvPr id="91" name="Google Shape;91;p6"/>
          <p:cNvSpPr/>
          <p:nvPr/>
        </p:nvSpPr>
        <p:spPr>
          <a:xfrm>
            <a:off x="640080" y="2514600"/>
            <a:ext cx="6126480" cy="3657600"/>
          </a:xfrm>
          <a:prstGeom prst="rect">
            <a:avLst/>
          </a:prstGeom>
          <a:noFill/>
          <a:ln>
            <a:noFill/>
          </a:ln>
        </p:spPr>
        <p:txBody>
          <a:bodyPr anchorCtr="0" anchor="t" bIns="45700" lIns="91425" spcFirstLastPara="1" rIns="91425" wrap="square" tIns="45700">
            <a:noAutofit/>
          </a:bodyPr>
          <a:lstStyle/>
          <a:p>
            <a:pPr indent="-254000" lvl="0" marL="254000" marR="0" rtl="0" algn="l">
              <a:lnSpc>
                <a:spcPct val="105000"/>
              </a:lnSpc>
              <a:spcBef>
                <a:spcPts val="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Auf dem Markt Mercat de l'Olivar einkaufen und dabei auf Spanisch fragen und bezahlen.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Im Café und in einer Tapas-Bar selbst etwas auf Spanisch bestellen.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Ein kleines Stadtspiel in Gruppen, bei dem wir Leute auf Spanisch etwas fragen müssen.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So üben wir jeden Tag, fast ohne es zu merken.</a:t>
            </a:r>
            <a:endParaRPr b="0" i="0" sz="1700" u="none" cap="none" strike="noStrike">
              <a:solidFill>
                <a:schemeClr val="dk1"/>
              </a:solidFill>
              <a:latin typeface="Calibri"/>
              <a:ea typeface="Calibri"/>
              <a:cs typeface="Calibri"/>
              <a:sym typeface="Calibri"/>
            </a:endParaRPr>
          </a:p>
        </p:txBody>
      </p:sp>
      <p:sp>
        <p:nvSpPr>
          <p:cNvPr id="92" name="Google Shape;92;p6"/>
          <p:cNvSpPr/>
          <p:nvPr/>
        </p:nvSpPr>
        <p:spPr>
          <a:xfrm>
            <a:off x="7086600" y="1783080"/>
            <a:ext cx="4434840" cy="3749040"/>
          </a:xfrm>
          <a:prstGeom prst="roundRect">
            <a:avLst>
              <a:gd fmla="val 2439" name="adj"/>
            </a:avLst>
          </a:prstGeom>
          <a:solidFill>
            <a:srgbClr val="F2F6F7"/>
          </a:solidFill>
          <a:ln cap="flat" cmpd="sng" w="19050">
            <a:solidFill>
              <a:srgbClr val="41AABF"/>
            </a:solidFill>
            <a:prstDash val="dash"/>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8869680" y="2967228"/>
            <a:ext cx="868680" cy="868680"/>
          </a:xfrm>
          <a:prstGeom prst="ellipse">
            <a:avLst/>
          </a:prstGeom>
          <a:solidFill>
            <a:srgbClr val="FFFFFF"/>
          </a:solidFill>
          <a:ln cap="flat" cmpd="sng" w="19050">
            <a:solidFill>
              <a:srgbClr val="41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6"/>
          <p:cNvPicPr preferRelativeResize="0"/>
          <p:nvPr/>
        </p:nvPicPr>
        <p:blipFill rotWithShape="1">
          <a:blip r:embed="rId3">
            <a:alphaModFix/>
          </a:blip>
          <a:srcRect b="0" l="0" r="0" t="0"/>
          <a:stretch/>
        </p:blipFill>
        <p:spPr>
          <a:xfrm>
            <a:off x="9084564" y="3182112"/>
            <a:ext cx="438912" cy="438912"/>
          </a:xfrm>
          <a:prstGeom prst="rect">
            <a:avLst/>
          </a:prstGeom>
          <a:noFill/>
          <a:ln>
            <a:noFill/>
          </a:ln>
        </p:spPr>
      </p:pic>
      <p:sp>
        <p:nvSpPr>
          <p:cNvPr id="95" name="Google Shape;95;p6"/>
          <p:cNvSpPr/>
          <p:nvPr/>
        </p:nvSpPr>
        <p:spPr>
          <a:xfrm>
            <a:off x="7406640" y="3950208"/>
            <a:ext cx="3794760" cy="7315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5B7682"/>
              </a:buClr>
              <a:buSzPts val="1350"/>
              <a:buFont typeface="Calibri"/>
              <a:buNone/>
            </a:pPr>
            <a:r>
              <a:rPr b="0" i="1" lang="en-US" sz="1350" u="none" cap="none" strike="noStrike">
                <a:solidFill>
                  <a:srgbClr val="5B7682"/>
                </a:solidFill>
                <a:latin typeface="Calibri"/>
                <a:ea typeface="Calibri"/>
                <a:cs typeface="Calibri"/>
                <a:sym typeface="Calibri"/>
              </a:rPr>
              <a:t>Hier ein Foto vom Markt oder von Tapas einsetzen</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4D68"/>
              </a:buClr>
              <a:buSzPts val="1250"/>
              <a:buFont typeface="Calibri"/>
              <a:buNone/>
            </a:pPr>
            <a:r>
              <a:rPr b="1" i="0" lang="en-US" sz="1250" u="none" cap="none" strike="noStrike">
                <a:solidFill>
                  <a:srgbClr val="0A4D68"/>
                </a:solidFill>
                <a:latin typeface="Calibri"/>
                <a:ea typeface="Calibri"/>
                <a:cs typeface="Calibri"/>
                <a:sym typeface="Calibri"/>
              </a:rPr>
              <a:t>KULTUR UND GESCHICHTE</a:t>
            </a:r>
            <a:endParaRPr b="0" i="0" sz="1250" u="none" cap="none" strike="noStrike">
              <a:solidFill>
                <a:schemeClr val="dk1"/>
              </a:solidFill>
              <a:latin typeface="Calibri"/>
              <a:ea typeface="Calibri"/>
              <a:cs typeface="Calibri"/>
              <a:sym typeface="Calibri"/>
            </a:endParaRPr>
          </a:p>
        </p:txBody>
      </p:sp>
      <p:sp>
        <p:nvSpPr>
          <p:cNvPr id="102" name="Google Shape;102;p7"/>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Mitten in Palma gibt es viel zu sehen</a:t>
            </a:r>
            <a:endParaRPr b="0" i="0" sz="3100" u="none" cap="none" strike="noStrike">
              <a:solidFill>
                <a:schemeClr val="dk1"/>
              </a:solidFill>
              <a:latin typeface="Calibri"/>
              <a:ea typeface="Calibri"/>
              <a:cs typeface="Calibri"/>
              <a:sym typeface="Calibri"/>
            </a:endParaRPr>
          </a:p>
        </p:txBody>
      </p:sp>
      <p:sp>
        <p:nvSpPr>
          <p:cNvPr id="103" name="Google Shape;103;p7"/>
          <p:cNvSpPr/>
          <p:nvPr/>
        </p:nvSpPr>
        <p:spPr>
          <a:xfrm>
            <a:off x="640080" y="1737360"/>
            <a:ext cx="4434840" cy="3749040"/>
          </a:xfrm>
          <a:prstGeom prst="roundRect">
            <a:avLst>
              <a:gd fmla="val 2439" name="adj"/>
            </a:avLst>
          </a:prstGeom>
          <a:solidFill>
            <a:srgbClr val="F2F6F7"/>
          </a:solidFill>
          <a:ln cap="flat" cmpd="sng" w="19050">
            <a:solidFill>
              <a:srgbClr val="41AABF"/>
            </a:solidFill>
            <a:prstDash val="dash"/>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2423160" y="2921508"/>
            <a:ext cx="868680" cy="868680"/>
          </a:xfrm>
          <a:prstGeom prst="ellipse">
            <a:avLst/>
          </a:prstGeom>
          <a:solidFill>
            <a:srgbClr val="FFFFFF"/>
          </a:solidFill>
          <a:ln cap="flat" cmpd="sng" w="19050">
            <a:solidFill>
              <a:srgbClr val="41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7"/>
          <p:cNvPicPr preferRelativeResize="0"/>
          <p:nvPr/>
        </p:nvPicPr>
        <p:blipFill rotWithShape="1">
          <a:blip r:embed="rId3">
            <a:alphaModFix/>
          </a:blip>
          <a:srcRect b="0" l="0" r="0" t="0"/>
          <a:stretch/>
        </p:blipFill>
        <p:spPr>
          <a:xfrm>
            <a:off x="2638044" y="3136392"/>
            <a:ext cx="438912" cy="438912"/>
          </a:xfrm>
          <a:prstGeom prst="rect">
            <a:avLst/>
          </a:prstGeom>
          <a:noFill/>
          <a:ln>
            <a:noFill/>
          </a:ln>
        </p:spPr>
      </p:pic>
      <p:sp>
        <p:nvSpPr>
          <p:cNvPr id="106" name="Google Shape;106;p7"/>
          <p:cNvSpPr/>
          <p:nvPr/>
        </p:nvSpPr>
        <p:spPr>
          <a:xfrm>
            <a:off x="960120" y="3904488"/>
            <a:ext cx="3794760" cy="7315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5B7682"/>
              </a:buClr>
              <a:buSzPts val="1350"/>
              <a:buFont typeface="Calibri"/>
              <a:buNone/>
            </a:pPr>
            <a:r>
              <a:rPr b="0" i="1" lang="en-US" sz="1350" u="none" cap="none" strike="noStrike">
                <a:solidFill>
                  <a:srgbClr val="5B7682"/>
                </a:solidFill>
                <a:latin typeface="Calibri"/>
                <a:ea typeface="Calibri"/>
                <a:cs typeface="Calibri"/>
                <a:sym typeface="Calibri"/>
              </a:rPr>
              <a:t>Hier ein Foto der Kathedrale La Seu einsetzen</a:t>
            </a:r>
            <a:endParaRPr b="0" i="0" sz="1350" u="none" cap="none" strike="noStrike">
              <a:solidFill>
                <a:schemeClr val="dk1"/>
              </a:solidFill>
              <a:latin typeface="Calibri"/>
              <a:ea typeface="Calibri"/>
              <a:cs typeface="Calibri"/>
              <a:sym typeface="Calibri"/>
            </a:endParaRPr>
          </a:p>
        </p:txBody>
      </p:sp>
      <p:sp>
        <p:nvSpPr>
          <p:cNvPr id="107" name="Google Shape;107;p7"/>
          <p:cNvSpPr/>
          <p:nvPr/>
        </p:nvSpPr>
        <p:spPr>
          <a:xfrm>
            <a:off x="5486400" y="1828800"/>
            <a:ext cx="749808" cy="749808"/>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7"/>
          <p:cNvPicPr preferRelativeResize="0"/>
          <p:nvPr/>
        </p:nvPicPr>
        <p:blipFill rotWithShape="1">
          <a:blip r:embed="rId4">
            <a:alphaModFix/>
          </a:blip>
          <a:srcRect b="0" l="0" r="0" t="0"/>
          <a:stretch/>
        </p:blipFill>
        <p:spPr>
          <a:xfrm>
            <a:off x="5673852" y="2016252"/>
            <a:ext cx="374904" cy="374904"/>
          </a:xfrm>
          <a:prstGeom prst="rect">
            <a:avLst/>
          </a:prstGeom>
          <a:noFill/>
          <a:ln>
            <a:noFill/>
          </a:ln>
        </p:spPr>
      </p:pic>
      <p:sp>
        <p:nvSpPr>
          <p:cNvPr id="109" name="Google Shape;109;p7"/>
          <p:cNvSpPr/>
          <p:nvPr/>
        </p:nvSpPr>
        <p:spPr>
          <a:xfrm>
            <a:off x="6446520" y="1773936"/>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Kathedrale La Seu</a:t>
            </a:r>
            <a:endParaRPr b="0" i="0" sz="1750" u="none" cap="none" strike="noStrike">
              <a:solidFill>
                <a:schemeClr val="dk1"/>
              </a:solidFill>
              <a:latin typeface="Calibri"/>
              <a:ea typeface="Calibri"/>
              <a:cs typeface="Calibri"/>
              <a:sym typeface="Calibri"/>
            </a:endParaRPr>
          </a:p>
        </p:txBody>
      </p:sp>
      <p:sp>
        <p:nvSpPr>
          <p:cNvPr id="110" name="Google Shape;110;p7"/>
          <p:cNvSpPr/>
          <p:nvPr/>
        </p:nvSpPr>
        <p:spPr>
          <a:xfrm>
            <a:off x="6446520" y="2176272"/>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Die große Kirche direkt am Wasser ist das Wahrzeichen der ganzen Stadt.</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5486400" y="2889504"/>
            <a:ext cx="749808" cy="749808"/>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7"/>
          <p:cNvPicPr preferRelativeResize="0"/>
          <p:nvPr/>
        </p:nvPicPr>
        <p:blipFill rotWithShape="1">
          <a:blip r:embed="rId5">
            <a:alphaModFix/>
          </a:blip>
          <a:srcRect b="0" l="0" r="0" t="0"/>
          <a:stretch/>
        </p:blipFill>
        <p:spPr>
          <a:xfrm>
            <a:off x="5673852" y="3076956"/>
            <a:ext cx="374904" cy="374904"/>
          </a:xfrm>
          <a:prstGeom prst="rect">
            <a:avLst/>
          </a:prstGeom>
          <a:noFill/>
          <a:ln>
            <a:noFill/>
          </a:ln>
        </p:spPr>
      </p:pic>
      <p:sp>
        <p:nvSpPr>
          <p:cNvPr id="113" name="Google Shape;113;p7"/>
          <p:cNvSpPr/>
          <p:nvPr/>
        </p:nvSpPr>
        <p:spPr>
          <a:xfrm>
            <a:off x="6446520" y="2834640"/>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Die Altstadt</a:t>
            </a:r>
            <a:endParaRPr b="0" i="0" sz="1750" u="none" cap="none" strike="noStrike">
              <a:solidFill>
                <a:schemeClr val="dk1"/>
              </a:solidFill>
              <a:latin typeface="Calibri"/>
              <a:ea typeface="Calibri"/>
              <a:cs typeface="Calibri"/>
              <a:sym typeface="Calibri"/>
            </a:endParaRPr>
          </a:p>
        </p:txBody>
      </p:sp>
      <p:sp>
        <p:nvSpPr>
          <p:cNvPr id="114" name="Google Shape;114;p7"/>
          <p:cNvSpPr/>
          <p:nvPr/>
        </p:nvSpPr>
        <p:spPr>
          <a:xfrm>
            <a:off x="6446520" y="3236976"/>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Enge, alte Gassen führen vom Dom bis zum Rathaus von Palma.</a:t>
            </a:r>
            <a:endParaRPr b="0" i="0" sz="1400" u="none" cap="none" strike="noStrike">
              <a:solidFill>
                <a:schemeClr val="dk1"/>
              </a:solidFill>
              <a:latin typeface="Calibri"/>
              <a:ea typeface="Calibri"/>
              <a:cs typeface="Calibri"/>
              <a:sym typeface="Calibri"/>
            </a:endParaRPr>
          </a:p>
        </p:txBody>
      </p:sp>
      <p:sp>
        <p:nvSpPr>
          <p:cNvPr id="115" name="Google Shape;115;p7"/>
          <p:cNvSpPr/>
          <p:nvPr/>
        </p:nvSpPr>
        <p:spPr>
          <a:xfrm>
            <a:off x="5486400" y="3950208"/>
            <a:ext cx="749808" cy="749808"/>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7"/>
          <p:cNvPicPr preferRelativeResize="0"/>
          <p:nvPr/>
        </p:nvPicPr>
        <p:blipFill rotWithShape="1">
          <a:blip r:embed="rId6">
            <a:alphaModFix/>
          </a:blip>
          <a:srcRect b="0" l="0" r="0" t="0"/>
          <a:stretch/>
        </p:blipFill>
        <p:spPr>
          <a:xfrm>
            <a:off x="5673852" y="4137660"/>
            <a:ext cx="374904" cy="374904"/>
          </a:xfrm>
          <a:prstGeom prst="rect">
            <a:avLst/>
          </a:prstGeom>
          <a:noFill/>
          <a:ln>
            <a:noFill/>
          </a:ln>
        </p:spPr>
      </p:pic>
      <p:sp>
        <p:nvSpPr>
          <p:cNvPr id="117" name="Google Shape;117;p7"/>
          <p:cNvSpPr/>
          <p:nvPr/>
        </p:nvSpPr>
        <p:spPr>
          <a:xfrm>
            <a:off x="6446520" y="3895344"/>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Castell de Bellver</a:t>
            </a:r>
            <a:endParaRPr b="0" i="0" sz="1750" u="none" cap="none" strike="noStrike">
              <a:solidFill>
                <a:schemeClr val="dk1"/>
              </a:solidFill>
              <a:latin typeface="Calibri"/>
              <a:ea typeface="Calibri"/>
              <a:cs typeface="Calibri"/>
              <a:sym typeface="Calibri"/>
            </a:endParaRPr>
          </a:p>
        </p:txBody>
      </p:sp>
      <p:sp>
        <p:nvSpPr>
          <p:cNvPr id="118" name="Google Shape;118;p7"/>
          <p:cNvSpPr/>
          <p:nvPr/>
        </p:nvSpPr>
        <p:spPr>
          <a:xfrm>
            <a:off x="6446520" y="4297680"/>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Eine runde Burg über der Stadt mit tollem Blick. Der Eintritt ist günstig.</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5486400" y="5010912"/>
            <a:ext cx="749808" cy="749808"/>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7"/>
          <p:cNvPicPr preferRelativeResize="0"/>
          <p:nvPr/>
        </p:nvPicPr>
        <p:blipFill rotWithShape="1">
          <a:blip r:embed="rId7">
            <a:alphaModFix/>
          </a:blip>
          <a:srcRect b="0" l="0" r="0" t="0"/>
          <a:stretch/>
        </p:blipFill>
        <p:spPr>
          <a:xfrm>
            <a:off x="5673852" y="5198364"/>
            <a:ext cx="374904" cy="374904"/>
          </a:xfrm>
          <a:prstGeom prst="rect">
            <a:avLst/>
          </a:prstGeom>
          <a:noFill/>
          <a:ln>
            <a:noFill/>
          </a:ln>
        </p:spPr>
      </p:pic>
      <p:sp>
        <p:nvSpPr>
          <p:cNvPr id="121" name="Google Shape;121;p7"/>
          <p:cNvSpPr/>
          <p:nvPr/>
        </p:nvSpPr>
        <p:spPr>
          <a:xfrm>
            <a:off x="6446520" y="4956048"/>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Fundació Miró</a:t>
            </a:r>
            <a:endParaRPr b="0" i="0" sz="1750" u="none" cap="none" strike="noStrike">
              <a:solidFill>
                <a:schemeClr val="dk1"/>
              </a:solidFill>
              <a:latin typeface="Calibri"/>
              <a:ea typeface="Calibri"/>
              <a:cs typeface="Calibri"/>
              <a:sym typeface="Calibri"/>
            </a:endParaRPr>
          </a:p>
        </p:txBody>
      </p:sp>
      <p:sp>
        <p:nvSpPr>
          <p:cNvPr id="122" name="Google Shape;122;p7"/>
          <p:cNvSpPr/>
          <p:nvPr/>
        </p:nvSpPr>
        <p:spPr>
          <a:xfrm>
            <a:off x="6446520" y="5358384"/>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Hier hat der bekannte Maler Joan Miró gelebt und gearbeitet.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8"/>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492C"/>
              </a:buClr>
              <a:buSzPts val="1250"/>
              <a:buFont typeface="Calibri"/>
              <a:buNone/>
            </a:pPr>
            <a:r>
              <a:rPr b="1" i="0" lang="en-US" sz="1250" u="none" cap="none" strike="noStrike">
                <a:solidFill>
                  <a:srgbClr val="C0492C"/>
                </a:solidFill>
                <a:latin typeface="Calibri"/>
                <a:ea typeface="Calibri"/>
                <a:cs typeface="Calibri"/>
                <a:sym typeface="Calibri"/>
              </a:rPr>
              <a:t>FÜR DEN LATEINKURS</a:t>
            </a:r>
            <a:endParaRPr b="0" i="0" sz="1250" u="none" cap="none" strike="noStrike">
              <a:solidFill>
                <a:schemeClr val="dk1"/>
              </a:solidFill>
              <a:latin typeface="Calibri"/>
              <a:ea typeface="Calibri"/>
              <a:cs typeface="Calibri"/>
              <a:sym typeface="Calibri"/>
            </a:endParaRPr>
          </a:p>
        </p:txBody>
      </p:sp>
      <p:sp>
        <p:nvSpPr>
          <p:cNvPr id="129" name="Google Shape;129;p8"/>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Latein zum Anschauen: Pollentia</a:t>
            </a:r>
            <a:endParaRPr b="0" i="0" sz="3100" u="none" cap="none" strike="noStrike">
              <a:solidFill>
                <a:schemeClr val="dk1"/>
              </a:solidFill>
              <a:latin typeface="Calibri"/>
              <a:ea typeface="Calibri"/>
              <a:cs typeface="Calibri"/>
              <a:sym typeface="Calibri"/>
            </a:endParaRPr>
          </a:p>
        </p:txBody>
      </p:sp>
      <p:sp>
        <p:nvSpPr>
          <p:cNvPr id="130" name="Google Shape;130;p8"/>
          <p:cNvSpPr/>
          <p:nvPr/>
        </p:nvSpPr>
        <p:spPr>
          <a:xfrm>
            <a:off x="640080" y="1737360"/>
            <a:ext cx="4434840" cy="3749040"/>
          </a:xfrm>
          <a:prstGeom prst="roundRect">
            <a:avLst>
              <a:gd fmla="val 2439" name="adj"/>
            </a:avLst>
          </a:prstGeom>
          <a:solidFill>
            <a:srgbClr val="F2F6F7"/>
          </a:solidFill>
          <a:ln cap="flat" cmpd="sng" w="19050">
            <a:solidFill>
              <a:srgbClr val="41AABF"/>
            </a:solidFill>
            <a:prstDash val="dash"/>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2423160" y="2921508"/>
            <a:ext cx="868680" cy="868680"/>
          </a:xfrm>
          <a:prstGeom prst="ellipse">
            <a:avLst/>
          </a:prstGeom>
          <a:solidFill>
            <a:srgbClr val="FFFFFF"/>
          </a:solidFill>
          <a:ln cap="flat" cmpd="sng" w="19050">
            <a:solidFill>
              <a:srgbClr val="41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8"/>
          <p:cNvPicPr preferRelativeResize="0"/>
          <p:nvPr/>
        </p:nvPicPr>
        <p:blipFill rotWithShape="1">
          <a:blip r:embed="rId3">
            <a:alphaModFix/>
          </a:blip>
          <a:srcRect b="0" l="0" r="0" t="0"/>
          <a:stretch/>
        </p:blipFill>
        <p:spPr>
          <a:xfrm>
            <a:off x="2638044" y="3136392"/>
            <a:ext cx="438912" cy="438912"/>
          </a:xfrm>
          <a:prstGeom prst="rect">
            <a:avLst/>
          </a:prstGeom>
          <a:noFill/>
          <a:ln>
            <a:noFill/>
          </a:ln>
        </p:spPr>
      </p:pic>
      <p:sp>
        <p:nvSpPr>
          <p:cNvPr id="133" name="Google Shape;133;p8"/>
          <p:cNvSpPr/>
          <p:nvPr/>
        </p:nvSpPr>
        <p:spPr>
          <a:xfrm>
            <a:off x="960120" y="3904488"/>
            <a:ext cx="3794760" cy="7315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5B7682"/>
              </a:buClr>
              <a:buSzPts val="1350"/>
              <a:buFont typeface="Calibri"/>
              <a:buNone/>
            </a:pPr>
            <a:r>
              <a:rPr b="0" i="1" lang="en-US" sz="1350" u="none" cap="none" strike="noStrike">
                <a:solidFill>
                  <a:srgbClr val="5B7682"/>
                </a:solidFill>
                <a:latin typeface="Calibri"/>
                <a:ea typeface="Calibri"/>
                <a:cs typeface="Calibri"/>
                <a:sym typeface="Calibri"/>
              </a:rPr>
              <a:t>Hier ein Foto der Ruinen von Pollentia einsetzen</a:t>
            </a:r>
            <a:endParaRPr b="0" i="0" sz="1350" u="none" cap="none" strike="noStrike">
              <a:solidFill>
                <a:schemeClr val="dk1"/>
              </a:solidFill>
              <a:latin typeface="Calibri"/>
              <a:ea typeface="Calibri"/>
              <a:cs typeface="Calibri"/>
              <a:sym typeface="Calibri"/>
            </a:endParaRPr>
          </a:p>
        </p:txBody>
      </p:sp>
      <p:sp>
        <p:nvSpPr>
          <p:cNvPr id="134" name="Google Shape;134;p8"/>
          <p:cNvSpPr/>
          <p:nvPr/>
        </p:nvSpPr>
        <p:spPr>
          <a:xfrm>
            <a:off x="5486400" y="1737360"/>
            <a:ext cx="603504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88395"/>
              </a:buClr>
              <a:buSzPts val="1600"/>
              <a:buFont typeface="Calibri"/>
              <a:buNone/>
            </a:pPr>
            <a:r>
              <a:rPr b="0" i="1" lang="en-US" sz="1600" u="none" cap="none" strike="noStrike">
                <a:solidFill>
                  <a:srgbClr val="088395"/>
                </a:solidFill>
                <a:latin typeface="Calibri"/>
                <a:ea typeface="Calibri"/>
                <a:cs typeface="Calibri"/>
                <a:sym typeface="Calibri"/>
              </a:rPr>
              <a:t>Pollentia ist die wichtigste römische Stadt auf Mallorca. Sie wurde 123 vor Christus gegründet.</a:t>
            </a:r>
            <a:endParaRPr b="0" i="0" sz="1600" u="none" cap="none" strike="noStrike">
              <a:solidFill>
                <a:schemeClr val="dk1"/>
              </a:solidFill>
              <a:latin typeface="Calibri"/>
              <a:ea typeface="Calibri"/>
              <a:cs typeface="Calibri"/>
              <a:sym typeface="Calibri"/>
            </a:endParaRPr>
          </a:p>
        </p:txBody>
      </p:sp>
      <p:sp>
        <p:nvSpPr>
          <p:cNvPr id="135" name="Google Shape;135;p8"/>
          <p:cNvSpPr/>
          <p:nvPr/>
        </p:nvSpPr>
        <p:spPr>
          <a:xfrm>
            <a:off x="5486400" y="2606040"/>
            <a:ext cx="6035040" cy="2103120"/>
          </a:xfrm>
          <a:prstGeom prst="rect">
            <a:avLst/>
          </a:prstGeom>
          <a:noFill/>
          <a:ln>
            <a:noFill/>
          </a:ln>
        </p:spPr>
        <p:txBody>
          <a:bodyPr anchorCtr="0" anchor="t" bIns="45700" lIns="91425" spcFirstLastPara="1" rIns="91425" wrap="square" tIns="45700">
            <a:noAutofit/>
          </a:bodyPr>
          <a:lstStyle/>
          <a:p>
            <a:pPr indent="-254000" lvl="0" marL="254000" marR="0" rtl="0" algn="l">
              <a:lnSpc>
                <a:spcPct val="105000"/>
              </a:lnSpc>
              <a:spcBef>
                <a:spcPts val="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Wir können ein Forum, alte römische Häuser und ein Theater sehen, das in den Felsen gehauen ist.</a:t>
            </a:r>
            <a:endParaRPr b="0" i="0" sz="1600" u="none" cap="none" strike="noStrike">
              <a:solidFill>
                <a:schemeClr val="dk1"/>
              </a:solidFill>
              <a:latin typeface="Calibri"/>
              <a:ea typeface="Calibri"/>
              <a:cs typeface="Calibri"/>
              <a:sym typeface="Calibri"/>
            </a:endParaRPr>
          </a:p>
          <a:p>
            <a:pPr indent="-254000" lvl="0" marL="254000" marR="0" rtl="0" algn="l">
              <a:lnSpc>
                <a:spcPct val="105000"/>
              </a:lnSpc>
              <a:spcBef>
                <a:spcPts val="130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Wörter wie domus, atrium und forum schauen wir uns direkt vor Ort an.</a:t>
            </a:r>
            <a:endParaRPr b="0" i="0" sz="1600" u="none" cap="none" strike="noStrike">
              <a:solidFill>
                <a:schemeClr val="dk1"/>
              </a:solidFill>
              <a:latin typeface="Calibri"/>
              <a:ea typeface="Calibri"/>
              <a:cs typeface="Calibri"/>
              <a:sym typeface="Calibri"/>
            </a:endParaRPr>
          </a:p>
          <a:p>
            <a:pPr indent="-254000" lvl="0" marL="254000" marR="0" rtl="0" algn="l">
              <a:lnSpc>
                <a:spcPct val="105000"/>
              </a:lnSpc>
              <a:spcBef>
                <a:spcPts val="130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Im Museum liegen echte Funde wie Amphoren, Münzen und Mosaike.</a:t>
            </a:r>
            <a:endParaRPr b="0" i="0" sz="1600" u="none" cap="none" strike="noStrike">
              <a:solidFill>
                <a:schemeClr val="dk1"/>
              </a:solidFill>
              <a:latin typeface="Calibri"/>
              <a:ea typeface="Calibri"/>
              <a:cs typeface="Calibri"/>
              <a:sym typeface="Calibri"/>
            </a:endParaRPr>
          </a:p>
        </p:txBody>
      </p:sp>
      <p:sp>
        <p:nvSpPr>
          <p:cNvPr id="136" name="Google Shape;136;p8"/>
          <p:cNvSpPr/>
          <p:nvPr/>
        </p:nvSpPr>
        <p:spPr>
          <a:xfrm>
            <a:off x="5486400" y="5120640"/>
            <a:ext cx="5989320" cy="868680"/>
          </a:xfrm>
          <a:prstGeom prst="roundRect">
            <a:avLst>
              <a:gd fmla="val 10526" name="adj"/>
            </a:avLst>
          </a:prstGeom>
          <a:solidFill>
            <a:srgbClr val="0A4D68"/>
          </a:solidFill>
          <a:ln>
            <a:noFill/>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760720" y="5321808"/>
            <a:ext cx="475488" cy="475488"/>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8"/>
          <p:cNvPicPr preferRelativeResize="0"/>
          <p:nvPr/>
        </p:nvPicPr>
        <p:blipFill rotWithShape="1">
          <a:blip r:embed="rId4">
            <a:alphaModFix/>
          </a:blip>
          <a:srcRect b="0" l="0" r="0" t="0"/>
          <a:stretch/>
        </p:blipFill>
        <p:spPr>
          <a:xfrm>
            <a:off x="5879592" y="5440680"/>
            <a:ext cx="237744" cy="237744"/>
          </a:xfrm>
          <a:prstGeom prst="rect">
            <a:avLst/>
          </a:prstGeom>
          <a:noFill/>
          <a:ln>
            <a:noFill/>
          </a:ln>
        </p:spPr>
      </p:pic>
      <p:sp>
        <p:nvSpPr>
          <p:cNvPr id="139" name="Google Shape;139;p8"/>
          <p:cNvSpPr/>
          <p:nvPr/>
        </p:nvSpPr>
        <p:spPr>
          <a:xfrm>
            <a:off x="6400800" y="5120640"/>
            <a:ext cx="49377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Der Eintritt kostet nur 4 € pro Person. </a:t>
            </a:r>
            <a:r>
              <a:rPr b="0" i="0" lang="en-US" sz="1450" u="none" cap="none" strike="noStrike">
                <a:solidFill>
                  <a:srgbClr val="41AABF"/>
                </a:solidFill>
                <a:latin typeface="Calibri"/>
                <a:ea typeface="Calibri"/>
                <a:cs typeface="Calibri"/>
                <a:sym typeface="Calibri"/>
              </a:rPr>
              <a:t>Das ist sehr günstig.</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9"/>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DIE ANREISE</a:t>
            </a:r>
            <a:endParaRPr b="0" i="0" sz="1250" u="none" cap="none" strike="noStrike">
              <a:solidFill>
                <a:schemeClr val="dk1"/>
              </a:solidFill>
              <a:latin typeface="Calibri"/>
              <a:ea typeface="Calibri"/>
              <a:cs typeface="Calibri"/>
              <a:sym typeface="Calibri"/>
            </a:endParaRPr>
          </a:p>
        </p:txBody>
      </p:sp>
      <p:sp>
        <p:nvSpPr>
          <p:cNvPr id="146" name="Google Shape;146;p9"/>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Der Flug ist kurz und einfach</a:t>
            </a:r>
            <a:endParaRPr b="0" i="0" sz="3100" u="none" cap="none" strike="noStrike">
              <a:solidFill>
                <a:schemeClr val="dk1"/>
              </a:solidFill>
              <a:latin typeface="Calibri"/>
              <a:ea typeface="Calibri"/>
              <a:cs typeface="Calibri"/>
              <a:sym typeface="Calibri"/>
            </a:endParaRPr>
          </a:p>
        </p:txBody>
      </p:sp>
      <p:sp>
        <p:nvSpPr>
          <p:cNvPr id="147" name="Google Shape;147;p9"/>
          <p:cNvSpPr/>
          <p:nvPr/>
        </p:nvSpPr>
        <p:spPr>
          <a:xfrm>
            <a:off x="640080" y="1536192"/>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Wir fliegen direkt von Münster/Osnabrück nach Palma. Umsteigen muss man nicht, und der Flug dauert nur etwa zweieinhalb Stunden.</a:t>
            </a:r>
            <a:endParaRPr b="0" i="0" sz="1550" u="none" cap="none" strike="noStrike">
              <a:solidFill>
                <a:schemeClr val="dk1"/>
              </a:solidFill>
              <a:latin typeface="Calibri"/>
              <a:ea typeface="Calibri"/>
              <a:cs typeface="Calibri"/>
              <a:sym typeface="Calibri"/>
            </a:endParaRPr>
          </a:p>
        </p:txBody>
      </p:sp>
      <p:cxnSp>
        <p:nvCxnSpPr>
          <p:cNvPr id="148" name="Google Shape;148;p9"/>
          <p:cNvCxnSpPr/>
          <p:nvPr/>
        </p:nvCxnSpPr>
        <p:spPr>
          <a:xfrm>
            <a:off x="2103120" y="2880360"/>
            <a:ext cx="7955280" cy="0"/>
          </a:xfrm>
          <a:prstGeom prst="straightConnector1">
            <a:avLst/>
          </a:prstGeom>
          <a:noFill/>
          <a:ln cap="flat" cmpd="sng" w="31750">
            <a:solidFill>
              <a:srgbClr val="41AABF"/>
            </a:solidFill>
            <a:prstDash val="dash"/>
            <a:round/>
            <a:headEnd len="sm" w="sm" type="none"/>
            <a:tailEnd len="sm" w="sm" type="none"/>
          </a:ln>
        </p:spPr>
      </p:cxnSp>
      <p:sp>
        <p:nvSpPr>
          <p:cNvPr id="149" name="Google Shape;149;p9"/>
          <p:cNvSpPr/>
          <p:nvPr/>
        </p:nvSpPr>
        <p:spPr>
          <a:xfrm>
            <a:off x="1874520" y="2679192"/>
            <a:ext cx="402336" cy="40233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9875520" y="2679192"/>
            <a:ext cx="402336" cy="40233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5806440" y="2496312"/>
            <a:ext cx="777240" cy="77724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9"/>
          <p:cNvPicPr preferRelativeResize="0"/>
          <p:nvPr/>
        </p:nvPicPr>
        <p:blipFill rotWithShape="1">
          <a:blip r:embed="rId3">
            <a:alphaModFix/>
          </a:blip>
          <a:srcRect b="0" l="0" r="0" t="0"/>
          <a:stretch/>
        </p:blipFill>
        <p:spPr>
          <a:xfrm>
            <a:off x="6007608" y="2697480"/>
            <a:ext cx="384048" cy="384048"/>
          </a:xfrm>
          <a:prstGeom prst="rect">
            <a:avLst/>
          </a:prstGeom>
          <a:noFill/>
          <a:ln>
            <a:noFill/>
          </a:ln>
        </p:spPr>
      </p:pic>
      <p:sp>
        <p:nvSpPr>
          <p:cNvPr id="153" name="Google Shape;153;p9"/>
          <p:cNvSpPr/>
          <p:nvPr/>
        </p:nvSpPr>
        <p:spPr>
          <a:xfrm>
            <a:off x="1097280" y="320040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A38"/>
              </a:buClr>
              <a:buSzPts val="1500"/>
              <a:buFont typeface="Georgia"/>
              <a:buNone/>
            </a:pPr>
            <a:r>
              <a:rPr b="1" i="0" lang="en-US" sz="1500" u="none" cap="none" strike="noStrike">
                <a:solidFill>
                  <a:srgbClr val="0F2A38"/>
                </a:solidFill>
                <a:latin typeface="Georgia"/>
                <a:ea typeface="Georgia"/>
                <a:cs typeface="Georgia"/>
                <a:sym typeface="Georgia"/>
              </a:rPr>
              <a:t>Münster / Osnabrück</a:t>
            </a:r>
            <a:endParaRPr b="0" i="0" sz="1500" u="none" cap="none" strike="noStrike">
              <a:solidFill>
                <a:schemeClr val="dk1"/>
              </a:solidFill>
              <a:latin typeface="Calibri"/>
              <a:ea typeface="Calibri"/>
              <a:cs typeface="Calibri"/>
              <a:sym typeface="Calibri"/>
            </a:endParaRPr>
          </a:p>
        </p:txBody>
      </p:sp>
      <p:sp>
        <p:nvSpPr>
          <p:cNvPr id="154" name="Google Shape;154;p9"/>
          <p:cNvSpPr/>
          <p:nvPr/>
        </p:nvSpPr>
        <p:spPr>
          <a:xfrm>
            <a:off x="1097280" y="3538728"/>
            <a:ext cx="2377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(FMO)</a:t>
            </a:r>
            <a:endParaRPr b="0" i="0" sz="1250" u="none" cap="none" strike="noStrike">
              <a:solidFill>
                <a:schemeClr val="dk1"/>
              </a:solidFill>
              <a:latin typeface="Calibri"/>
              <a:ea typeface="Calibri"/>
              <a:cs typeface="Calibri"/>
              <a:sym typeface="Calibri"/>
            </a:endParaRPr>
          </a:p>
        </p:txBody>
      </p:sp>
      <p:sp>
        <p:nvSpPr>
          <p:cNvPr id="155" name="Google Shape;155;p9"/>
          <p:cNvSpPr/>
          <p:nvPr/>
        </p:nvSpPr>
        <p:spPr>
          <a:xfrm>
            <a:off x="8686800" y="320040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A38"/>
              </a:buClr>
              <a:buSzPts val="1500"/>
              <a:buFont typeface="Georgia"/>
              <a:buNone/>
            </a:pPr>
            <a:r>
              <a:rPr b="1" i="0" lang="en-US" sz="1500" u="none" cap="none" strike="noStrike">
                <a:solidFill>
                  <a:srgbClr val="0F2A38"/>
                </a:solidFill>
                <a:latin typeface="Georgia"/>
                <a:ea typeface="Georgia"/>
                <a:cs typeface="Georgia"/>
                <a:sym typeface="Georgia"/>
              </a:rPr>
              <a:t>Palma de Mallorca</a:t>
            </a:r>
            <a:endParaRPr b="0" i="0" sz="1500" u="none" cap="none" strike="noStrike">
              <a:solidFill>
                <a:schemeClr val="dk1"/>
              </a:solidFill>
              <a:latin typeface="Calibri"/>
              <a:ea typeface="Calibri"/>
              <a:cs typeface="Calibri"/>
              <a:sym typeface="Calibri"/>
            </a:endParaRPr>
          </a:p>
        </p:txBody>
      </p:sp>
      <p:sp>
        <p:nvSpPr>
          <p:cNvPr id="156" name="Google Shape;156;p9"/>
          <p:cNvSpPr/>
          <p:nvPr/>
        </p:nvSpPr>
        <p:spPr>
          <a:xfrm>
            <a:off x="8686800" y="3538728"/>
            <a:ext cx="2377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(PMI)</a:t>
            </a:r>
            <a:endParaRPr b="0" i="0" sz="1250" u="none" cap="none" strike="noStrike">
              <a:solidFill>
                <a:schemeClr val="dk1"/>
              </a:solidFill>
              <a:latin typeface="Calibri"/>
              <a:ea typeface="Calibri"/>
              <a:cs typeface="Calibri"/>
              <a:sym typeface="Calibri"/>
            </a:endParaRPr>
          </a:p>
        </p:txBody>
      </p:sp>
      <p:sp>
        <p:nvSpPr>
          <p:cNvPr id="157" name="Google Shape;157;p9"/>
          <p:cNvSpPr/>
          <p:nvPr/>
        </p:nvSpPr>
        <p:spPr>
          <a:xfrm>
            <a:off x="640080"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640080" y="4480560"/>
            <a:ext cx="128016" cy="1371600"/>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960120"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8395"/>
              </a:buClr>
              <a:buSzPts val="2800"/>
              <a:buFont typeface="Georgia"/>
              <a:buNone/>
            </a:pPr>
            <a:r>
              <a:rPr b="1" i="0" lang="en-US" sz="2800" u="none" cap="none" strike="noStrike">
                <a:solidFill>
                  <a:srgbClr val="088395"/>
                </a:solidFill>
                <a:latin typeface="Georgia"/>
                <a:ea typeface="Georgia"/>
                <a:cs typeface="Georgia"/>
                <a:sym typeface="Georgia"/>
              </a:rPr>
              <a:t>2,5 Std.</a:t>
            </a:r>
            <a:endParaRPr b="0" i="0" sz="2800" u="none" cap="none" strike="noStrike">
              <a:solidFill>
                <a:schemeClr val="dk1"/>
              </a:solidFill>
              <a:latin typeface="Calibri"/>
              <a:ea typeface="Calibri"/>
              <a:cs typeface="Calibri"/>
              <a:sym typeface="Calibri"/>
            </a:endParaRPr>
          </a:p>
        </p:txBody>
      </p:sp>
      <p:sp>
        <p:nvSpPr>
          <p:cNvPr id="160" name="Google Shape;160;p9"/>
          <p:cNvSpPr/>
          <p:nvPr/>
        </p:nvSpPr>
        <p:spPr>
          <a:xfrm>
            <a:off x="960120"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reine Flugzeit</a:t>
            </a:r>
            <a:endParaRPr b="0" i="0" sz="1300" u="none" cap="none" strike="noStrike">
              <a:solidFill>
                <a:schemeClr val="dk1"/>
              </a:solidFill>
              <a:latin typeface="Calibri"/>
              <a:ea typeface="Calibri"/>
              <a:cs typeface="Calibri"/>
              <a:sym typeface="Calibri"/>
            </a:endParaRPr>
          </a:p>
        </p:txBody>
      </p:sp>
      <p:sp>
        <p:nvSpPr>
          <p:cNvPr id="161" name="Google Shape;161;p9"/>
          <p:cNvSpPr/>
          <p:nvPr/>
        </p:nvSpPr>
        <p:spPr>
          <a:xfrm>
            <a:off x="4370832"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370832" y="4480560"/>
            <a:ext cx="128016" cy="1371600"/>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4690872"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4D68"/>
              </a:buClr>
              <a:buSzPts val="2800"/>
              <a:buFont typeface="Georgia"/>
              <a:buNone/>
            </a:pPr>
            <a:r>
              <a:rPr b="1" i="0" lang="en-US" sz="2800" u="none" cap="none" strike="noStrike">
                <a:solidFill>
                  <a:srgbClr val="0A4D68"/>
                </a:solidFill>
                <a:latin typeface="Georgia"/>
                <a:ea typeface="Georgia"/>
                <a:cs typeface="Georgia"/>
                <a:sym typeface="Georgia"/>
              </a:rPr>
              <a:t>0 mal</a:t>
            </a:r>
            <a:endParaRPr b="0" i="0" sz="2800" u="none" cap="none" strike="noStrike">
              <a:solidFill>
                <a:schemeClr val="dk1"/>
              </a:solidFill>
              <a:latin typeface="Calibri"/>
              <a:ea typeface="Calibri"/>
              <a:cs typeface="Calibri"/>
              <a:sym typeface="Calibri"/>
            </a:endParaRPr>
          </a:p>
        </p:txBody>
      </p:sp>
      <p:sp>
        <p:nvSpPr>
          <p:cNvPr id="164" name="Google Shape;164;p9"/>
          <p:cNvSpPr/>
          <p:nvPr/>
        </p:nvSpPr>
        <p:spPr>
          <a:xfrm>
            <a:off x="4690872"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Umsteigen, es ist ein Direktflug</a:t>
            </a:r>
            <a:endParaRPr b="0" i="0" sz="1300" u="none" cap="none" strike="noStrike">
              <a:solidFill>
                <a:schemeClr val="dk1"/>
              </a:solidFill>
              <a:latin typeface="Calibri"/>
              <a:ea typeface="Calibri"/>
              <a:cs typeface="Calibri"/>
              <a:sym typeface="Calibri"/>
            </a:endParaRPr>
          </a:p>
        </p:txBody>
      </p:sp>
      <p:sp>
        <p:nvSpPr>
          <p:cNvPr id="165" name="Google Shape;165;p9"/>
          <p:cNvSpPr/>
          <p:nvPr/>
        </p:nvSpPr>
        <p:spPr>
          <a:xfrm>
            <a:off x="8101584"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8101584" y="4480560"/>
            <a:ext cx="128016" cy="1371600"/>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8421624"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ab 130 €</a:t>
            </a:r>
            <a:endParaRPr b="0" i="0" sz="2800" u="none" cap="none" strike="noStrike">
              <a:solidFill>
                <a:schemeClr val="dk1"/>
              </a:solidFill>
              <a:latin typeface="Calibri"/>
              <a:ea typeface="Calibri"/>
              <a:cs typeface="Calibri"/>
              <a:sym typeface="Calibri"/>
            </a:endParaRPr>
          </a:p>
        </p:txBody>
      </p:sp>
      <p:sp>
        <p:nvSpPr>
          <p:cNvPr id="168" name="Google Shape;168;p9"/>
          <p:cNvSpPr/>
          <p:nvPr/>
        </p:nvSpPr>
        <p:spPr>
          <a:xfrm>
            <a:off x="8421624"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Hin- und Rückflug pro Person</a:t>
            </a:r>
            <a:endParaRPr b="0" i="0" sz="1300" u="none" cap="none" strike="noStrike">
              <a:solidFill>
                <a:schemeClr val="dk1"/>
              </a:solidFill>
              <a:latin typeface="Calibri"/>
              <a:ea typeface="Calibri"/>
              <a:cs typeface="Calibri"/>
              <a:sym typeface="Calibri"/>
            </a:endParaRPr>
          </a:p>
        </p:txBody>
      </p:sp>
      <p:sp>
        <p:nvSpPr>
          <p:cNvPr id="169" name="Google Shape;169;p9"/>
          <p:cNvSpPr/>
          <p:nvPr/>
        </p:nvSpPr>
        <p:spPr>
          <a:xfrm>
            <a:off x="640080" y="6035040"/>
            <a:ext cx="10972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350"/>
              <a:buFont typeface="Calibri"/>
              <a:buNone/>
            </a:pPr>
            <a:r>
              <a:rPr b="0" i="1" lang="en-US" sz="1350" u="none" cap="none" strike="noStrike">
                <a:solidFill>
                  <a:srgbClr val="5B7682"/>
                </a:solidFill>
                <a:latin typeface="Calibri"/>
                <a:ea typeface="Calibri"/>
                <a:cs typeface="Calibri"/>
                <a:sym typeface="Calibri"/>
              </a:rPr>
              <a:t>Eurowings, Ryanair und Condor fliegen diese Strecke direkt.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0"/>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WAS ES KOSTET</a:t>
            </a:r>
            <a:endParaRPr b="0" i="0" sz="1250" u="none" cap="none" strike="noStrike">
              <a:solidFill>
                <a:schemeClr val="dk1"/>
              </a:solidFill>
              <a:latin typeface="Calibri"/>
              <a:ea typeface="Calibri"/>
              <a:cs typeface="Calibri"/>
              <a:sym typeface="Calibri"/>
            </a:endParaRPr>
          </a:p>
        </p:txBody>
      </p:sp>
      <p:sp>
        <p:nvSpPr>
          <p:cNvPr id="176" name="Google Shape;176;p10"/>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Wir bleiben unter 350 € pro Person</a:t>
            </a:r>
            <a:endParaRPr b="0" i="0" sz="3100" u="none" cap="none" strike="noStrike">
              <a:solidFill>
                <a:schemeClr val="dk1"/>
              </a:solidFill>
              <a:latin typeface="Calibri"/>
              <a:ea typeface="Calibri"/>
              <a:cs typeface="Calibri"/>
              <a:sym typeface="Calibri"/>
            </a:endParaRPr>
          </a:p>
        </p:txBody>
      </p:sp>
      <p:sp>
        <p:nvSpPr>
          <p:cNvPr id="177" name="Google Shape;177;p10"/>
          <p:cNvSpPr/>
          <p:nvPr/>
        </p:nvSpPr>
        <p:spPr>
          <a:xfrm>
            <a:off x="640080" y="15087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Sie hatten gesagt, dass es höchstens 350 € pro Person kosten darf. Wir haben nachgerechnet, und es geht sich aus.</a:t>
            </a:r>
            <a:endParaRPr b="0" i="0" sz="1550" u="none" cap="none" strike="noStrike">
              <a:solidFill>
                <a:schemeClr val="dk1"/>
              </a:solidFill>
              <a:latin typeface="Calibri"/>
              <a:ea typeface="Calibri"/>
              <a:cs typeface="Calibri"/>
              <a:sym typeface="Calibri"/>
            </a:endParaRPr>
          </a:p>
        </p:txBody>
      </p:sp>
      <p:graphicFrame>
        <p:nvGraphicFramePr>
          <p:cNvPr id="178" name="Google Shape;178;p10"/>
          <p:cNvGraphicFramePr/>
          <p:nvPr/>
        </p:nvGraphicFramePr>
        <p:xfrm>
          <a:off x="640080" y="2057400"/>
          <a:ext cx="3000000" cy="3000000"/>
        </p:xfrm>
        <a:graphic>
          <a:graphicData uri="http://schemas.openxmlformats.org/drawingml/2006/table">
            <a:tbl>
              <a:tblPr>
                <a:noFill/>
                <a:tableStyleId>{3011F8F3-DB60-49CB-BC6E-F00C86E82644}</a:tableStyleId>
              </a:tblPr>
              <a:tblGrid>
                <a:gridCol w="5074925"/>
                <a:gridCol w="2057400"/>
              </a:tblGrid>
              <a:tr h="512075">
                <a:tc>
                  <a:txBody>
                    <a:bodyPr/>
                    <a:lstStyle/>
                    <a:p>
                      <a:pPr indent="0" lvl="0" marL="0" marR="0" rtl="0" algn="l">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Wofür</a:t>
                      </a:r>
                      <a:endParaRPr sz="15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0A4D68"/>
                    </a:solidFill>
                  </a:tcPr>
                </a:tc>
                <a:tc>
                  <a:txBody>
                    <a:bodyPr/>
                    <a:lstStyle/>
                    <a:p>
                      <a:pPr indent="0" lvl="0" marL="0" marR="0" rtl="0" algn="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Kosten pro Person</a:t>
                      </a:r>
                      <a:endParaRPr sz="15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0A4D68"/>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Flug hin und zurück (mit Koffer)</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130 bis 180 €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4 Nächte Unterkunft (nur Übernachtung)</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80 €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Fahrt vom Flughafen und zurück</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12 €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Bus und Bahn vor Ort (5 Tage)</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25 €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Eintritte und Programm</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30 €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550"/>
                        <a:buFont typeface="Calibri"/>
                        <a:buNone/>
                      </a:pPr>
                      <a:r>
                        <a:rPr b="1" lang="en-US" sz="1550" u="none" cap="none" strike="noStrike">
                          <a:solidFill>
                            <a:srgbClr val="0F2A38"/>
                          </a:solidFill>
                          <a:latin typeface="Calibri"/>
                          <a:ea typeface="Calibri"/>
                          <a:cs typeface="Calibri"/>
                          <a:sym typeface="Calibri"/>
                        </a:rPr>
                        <a:t>Zusammen pro Person</a:t>
                      </a:r>
                      <a:endParaRPr sz="155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E9B44C"/>
                    </a:solidFill>
                  </a:tcPr>
                </a:tc>
                <a:tc>
                  <a:txBody>
                    <a:bodyPr/>
                    <a:lstStyle/>
                    <a:p>
                      <a:pPr indent="0" lvl="0" marL="0" marR="0" rtl="0" algn="r">
                        <a:spcBef>
                          <a:spcPts val="0"/>
                        </a:spcBef>
                        <a:spcAft>
                          <a:spcPts val="0"/>
                        </a:spcAft>
                        <a:buClr>
                          <a:srgbClr val="0F2A38"/>
                        </a:buClr>
                        <a:buSzPts val="1550"/>
                        <a:buFont typeface="Calibri"/>
                        <a:buNone/>
                      </a:pPr>
                      <a:r>
                        <a:rPr b="1" lang="en-US" sz="1550" u="none" cap="none" strike="noStrike">
                          <a:solidFill>
                            <a:srgbClr val="0F2A38"/>
                          </a:solidFill>
                          <a:latin typeface="Calibri"/>
                          <a:ea typeface="Calibri"/>
                          <a:cs typeface="Calibri"/>
                          <a:sym typeface="Calibri"/>
                        </a:rPr>
                        <a:t>ca. 275 bis 330 €</a:t>
                      </a:r>
                      <a:endParaRPr sz="155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E9B44C"/>
                    </a:solidFill>
                  </a:tcPr>
                </a:tc>
              </a:tr>
            </a:tbl>
          </a:graphicData>
        </a:graphic>
      </p:graphicFrame>
      <p:sp>
        <p:nvSpPr>
          <p:cNvPr id="179" name="Google Shape;179;p10"/>
          <p:cNvSpPr/>
          <p:nvPr/>
        </p:nvSpPr>
        <p:spPr>
          <a:xfrm>
            <a:off x="8138160" y="2240280"/>
            <a:ext cx="3401568" cy="2286000"/>
          </a:xfrm>
          <a:prstGeom prst="roundRect">
            <a:avLst>
              <a:gd fmla="val 4800" name="adj"/>
            </a:avLst>
          </a:prstGeom>
          <a:solidFill>
            <a:srgbClr val="0A4D68"/>
          </a:solidFill>
          <a:ln>
            <a:noFill/>
          </a:ln>
          <a:effectLst>
            <a:outerShdw blurRad="114300" rotWithShape="0" algn="bl" dir="8100000" dist="38100">
              <a:srgbClr val="0A2A3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601200" y="2487168"/>
            <a:ext cx="548640" cy="54864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0"/>
          <p:cNvPicPr preferRelativeResize="0"/>
          <p:nvPr/>
        </p:nvPicPr>
        <p:blipFill rotWithShape="1">
          <a:blip r:embed="rId3">
            <a:alphaModFix/>
          </a:blip>
          <a:srcRect b="0" l="0" r="0" t="0"/>
          <a:stretch/>
        </p:blipFill>
        <p:spPr>
          <a:xfrm>
            <a:off x="9738360" y="2624328"/>
            <a:ext cx="274320" cy="274320"/>
          </a:xfrm>
          <a:prstGeom prst="rect">
            <a:avLst/>
          </a:prstGeom>
          <a:noFill/>
          <a:ln>
            <a:noFill/>
          </a:ln>
        </p:spPr>
      </p:pic>
      <p:sp>
        <p:nvSpPr>
          <p:cNvPr id="182" name="Google Shape;182;p10"/>
          <p:cNvSpPr/>
          <p:nvPr/>
        </p:nvSpPr>
        <p:spPr>
          <a:xfrm>
            <a:off x="8138160" y="3127248"/>
            <a:ext cx="3401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1AABF"/>
              </a:buClr>
              <a:buSzPts val="1500"/>
              <a:buFont typeface="Calibri"/>
              <a:buNone/>
            </a:pPr>
            <a:r>
              <a:rPr b="0" i="0" lang="en-US" sz="1500" u="none" cap="none" strike="noStrike">
                <a:solidFill>
                  <a:srgbClr val="41AABF"/>
                </a:solidFill>
                <a:latin typeface="Calibri"/>
                <a:ea typeface="Calibri"/>
                <a:cs typeface="Calibri"/>
                <a:sym typeface="Calibri"/>
              </a:rPr>
              <a:t>unter</a:t>
            </a:r>
            <a:endParaRPr b="0" i="0" sz="1500" u="none" cap="none" strike="noStrike">
              <a:solidFill>
                <a:schemeClr val="dk1"/>
              </a:solidFill>
              <a:latin typeface="Calibri"/>
              <a:ea typeface="Calibri"/>
              <a:cs typeface="Calibri"/>
              <a:sym typeface="Calibri"/>
            </a:endParaRPr>
          </a:p>
        </p:txBody>
      </p:sp>
      <p:sp>
        <p:nvSpPr>
          <p:cNvPr id="183" name="Google Shape;183;p10"/>
          <p:cNvSpPr/>
          <p:nvPr/>
        </p:nvSpPr>
        <p:spPr>
          <a:xfrm>
            <a:off x="8138160" y="3383280"/>
            <a:ext cx="3401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B44C"/>
              </a:buClr>
              <a:buSzPts val="4800"/>
              <a:buFont typeface="Georgia"/>
              <a:buNone/>
            </a:pPr>
            <a:r>
              <a:rPr b="1" i="0" lang="en-US" sz="4800" u="none" cap="none" strike="noStrike">
                <a:solidFill>
                  <a:srgbClr val="E9B44C"/>
                </a:solidFill>
                <a:latin typeface="Georgia"/>
                <a:ea typeface="Georgia"/>
                <a:cs typeface="Georgia"/>
                <a:sym typeface="Georgia"/>
              </a:rPr>
              <a:t>350 €</a:t>
            </a:r>
            <a:endParaRPr b="0" i="0" sz="4800" u="none" cap="none" strike="noStrike">
              <a:solidFill>
                <a:schemeClr val="dk1"/>
              </a:solidFill>
              <a:latin typeface="Calibri"/>
              <a:ea typeface="Calibri"/>
              <a:cs typeface="Calibri"/>
              <a:sym typeface="Calibri"/>
            </a:endParaRPr>
          </a:p>
        </p:txBody>
      </p:sp>
      <p:sp>
        <p:nvSpPr>
          <p:cNvPr id="184" name="Google Shape;184;p10"/>
          <p:cNvSpPr/>
          <p:nvPr/>
        </p:nvSpPr>
        <p:spPr>
          <a:xfrm>
            <a:off x="8138160" y="4160520"/>
            <a:ext cx="3401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Das passt ins Budget</a:t>
            </a:r>
            <a:endParaRPr b="0" i="0" sz="1500" u="none" cap="none" strike="noStrike">
              <a:solidFill>
                <a:schemeClr val="dk1"/>
              </a:solidFill>
              <a:latin typeface="Calibri"/>
              <a:ea typeface="Calibri"/>
              <a:cs typeface="Calibri"/>
              <a:sym typeface="Calibri"/>
            </a:endParaRPr>
          </a:p>
        </p:txBody>
      </p:sp>
      <p:sp>
        <p:nvSpPr>
          <p:cNvPr id="185" name="Google Shape;185;p10"/>
          <p:cNvSpPr/>
          <p:nvPr/>
        </p:nvSpPr>
        <p:spPr>
          <a:xfrm>
            <a:off x="8138160" y="4754880"/>
            <a:ext cx="3401568" cy="9144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00"/>
              <a:buFont typeface="Calibri"/>
              <a:buNone/>
            </a:pPr>
            <a:r>
              <a:rPr b="0" i="1" lang="en-US" sz="1300" u="none" cap="none" strike="noStrike">
                <a:solidFill>
                  <a:srgbClr val="5B7682"/>
                </a:solidFill>
                <a:latin typeface="Calibri"/>
                <a:ea typeface="Calibri"/>
                <a:cs typeface="Calibri"/>
                <a:sym typeface="Calibri"/>
              </a:rPr>
              <a:t>Das Essen ist hier nicht dabei. Das zahlt jeder selbst vom Taschengeld.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1"/>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WAS ES KOSTET</a:t>
            </a:r>
            <a:endParaRPr b="0" i="0" sz="1250" u="none" cap="none" strike="noStrike">
              <a:solidFill>
                <a:schemeClr val="dk1"/>
              </a:solidFill>
              <a:latin typeface="Calibri"/>
              <a:ea typeface="Calibri"/>
              <a:cs typeface="Calibri"/>
              <a:sym typeface="Calibri"/>
            </a:endParaRPr>
          </a:p>
        </p:txBody>
      </p:sp>
      <p:sp>
        <p:nvSpPr>
          <p:cNvPr id="192" name="Google Shape;192;p11"/>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Wofür das Geld ausgegeben wird</a:t>
            </a:r>
            <a:endParaRPr b="0" i="0" sz="3100" u="none" cap="none" strike="noStrike">
              <a:solidFill>
                <a:schemeClr val="dk1"/>
              </a:solidFill>
              <a:latin typeface="Calibri"/>
              <a:ea typeface="Calibri"/>
              <a:cs typeface="Calibri"/>
              <a:sym typeface="Calibri"/>
            </a:endParaRPr>
          </a:p>
        </p:txBody>
      </p:sp>
      <p:pic>
        <p:nvPicPr>
          <p:cNvPr id="193" name="Google Shape;193;p11"/>
          <p:cNvPicPr preferRelativeResize="0"/>
          <p:nvPr/>
        </p:nvPicPr>
        <p:blipFill rotWithShape="1">
          <a:blip r:embed="rId3">
            <a:alphaModFix/>
          </a:blip>
          <a:srcRect b="0" l="0" r="0" t="0"/>
          <a:stretch/>
        </p:blipFill>
        <p:spPr>
          <a:xfrm>
            <a:off x="548640" y="1783080"/>
            <a:ext cx="6949440" cy="4297680"/>
          </a:xfrm>
          <a:prstGeom prst="rect">
            <a:avLst/>
          </a:prstGeom>
          <a:noFill/>
          <a:ln>
            <a:noFill/>
          </a:ln>
        </p:spPr>
      </p:pic>
      <p:sp>
        <p:nvSpPr>
          <p:cNvPr id="194" name="Google Shape;194;p11"/>
          <p:cNvSpPr/>
          <p:nvPr/>
        </p:nvSpPr>
        <p:spPr>
          <a:xfrm>
            <a:off x="7909560" y="1783080"/>
            <a:ext cx="3639312" cy="3063240"/>
          </a:xfrm>
          <a:prstGeom prst="roundRect">
            <a:avLst>
              <a:gd fmla="val 3582" name="adj"/>
            </a:avLst>
          </a:prstGeom>
          <a:solidFill>
            <a:srgbClr val="0A4D68"/>
          </a:solidFill>
          <a:ln>
            <a:noFill/>
          </a:ln>
          <a:effectLst>
            <a:outerShdw blurRad="114300" rotWithShape="0" algn="bl" dir="8100000" dist="38100">
              <a:srgbClr val="0A2A3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8183880" y="205740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1AABF"/>
              </a:buClr>
              <a:buSzPts val="1450"/>
              <a:buFont typeface="Calibri"/>
              <a:buNone/>
            </a:pPr>
            <a:r>
              <a:rPr b="0" i="0" lang="en-US" sz="1450" u="none" cap="none" strike="noStrike">
                <a:solidFill>
                  <a:srgbClr val="41AABF"/>
                </a:solidFill>
                <a:latin typeface="Calibri"/>
                <a:ea typeface="Calibri"/>
                <a:cs typeface="Calibri"/>
                <a:sym typeface="Calibri"/>
              </a:rPr>
              <a:t>Zusammen pro Person</a:t>
            </a:r>
            <a:endParaRPr b="0" i="0" sz="1450" u="none" cap="none" strike="noStrike">
              <a:solidFill>
                <a:schemeClr val="dk1"/>
              </a:solidFill>
              <a:latin typeface="Calibri"/>
              <a:ea typeface="Calibri"/>
              <a:cs typeface="Calibri"/>
              <a:sym typeface="Calibri"/>
            </a:endParaRPr>
          </a:p>
        </p:txBody>
      </p:sp>
      <p:sp>
        <p:nvSpPr>
          <p:cNvPr id="196" name="Google Shape;196;p11"/>
          <p:cNvSpPr/>
          <p:nvPr/>
        </p:nvSpPr>
        <p:spPr>
          <a:xfrm>
            <a:off x="8183880" y="2377440"/>
            <a:ext cx="3108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ca. 307 €</a:t>
            </a:r>
            <a:endParaRPr b="0" i="0" sz="4600" u="none" cap="none" strike="noStrike">
              <a:solidFill>
                <a:schemeClr val="dk1"/>
              </a:solidFill>
              <a:latin typeface="Calibri"/>
              <a:ea typeface="Calibri"/>
              <a:cs typeface="Calibri"/>
              <a:sym typeface="Calibri"/>
            </a:endParaRPr>
          </a:p>
        </p:txBody>
      </p:sp>
      <p:cxnSp>
        <p:nvCxnSpPr>
          <p:cNvPr id="197" name="Google Shape;197;p11"/>
          <p:cNvCxnSpPr/>
          <p:nvPr/>
        </p:nvCxnSpPr>
        <p:spPr>
          <a:xfrm>
            <a:off x="8183880" y="3337560"/>
            <a:ext cx="3108960" cy="0"/>
          </a:xfrm>
          <a:prstGeom prst="straightConnector1">
            <a:avLst/>
          </a:prstGeom>
          <a:noFill/>
          <a:ln cap="flat" cmpd="sng" w="12700">
            <a:solidFill>
              <a:srgbClr val="088395"/>
            </a:solidFill>
            <a:prstDash val="solid"/>
            <a:round/>
            <a:headEnd len="sm" w="sm" type="none"/>
            <a:tailEnd len="sm" w="sm" type="none"/>
          </a:ln>
        </p:spPr>
      </p:cxnSp>
      <p:sp>
        <p:nvSpPr>
          <p:cNvPr id="198" name="Google Shape;198;p11"/>
          <p:cNvSpPr/>
          <p:nvPr/>
        </p:nvSpPr>
        <p:spPr>
          <a:xfrm>
            <a:off x="8183880" y="352044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400"/>
              <a:buFont typeface="Calibri"/>
              <a:buNone/>
            </a:pPr>
            <a:r>
              <a:rPr b="0" i="0" lang="en-US" sz="1400" u="none" cap="none" strike="noStrike">
                <a:solidFill>
                  <a:srgbClr val="BFD8E0"/>
                </a:solidFill>
                <a:latin typeface="Calibri"/>
                <a:ea typeface="Calibri"/>
                <a:cs typeface="Calibri"/>
                <a:sym typeface="Calibri"/>
              </a:rPr>
              <a:t>Erlaubt sind    </a:t>
            </a:r>
            <a:r>
              <a:rPr b="1" i="0" lang="en-US" sz="1400" u="none" cap="none" strike="noStrike">
                <a:solidFill>
                  <a:srgbClr val="FFFFFF"/>
                </a:solidFill>
                <a:latin typeface="Calibri"/>
                <a:ea typeface="Calibri"/>
                <a:cs typeface="Calibri"/>
                <a:sym typeface="Calibri"/>
              </a:rPr>
              <a:t>350 €</a:t>
            </a:r>
            <a:endParaRPr b="0" i="0" sz="1400" u="none" cap="none" strike="noStrike">
              <a:solidFill>
                <a:schemeClr val="dk1"/>
              </a:solidFill>
              <a:latin typeface="Calibri"/>
              <a:ea typeface="Calibri"/>
              <a:cs typeface="Calibri"/>
              <a:sym typeface="Calibri"/>
            </a:endParaRPr>
          </a:p>
        </p:txBody>
      </p:sp>
      <p:sp>
        <p:nvSpPr>
          <p:cNvPr id="199" name="Google Shape;199;p11"/>
          <p:cNvSpPr/>
          <p:nvPr/>
        </p:nvSpPr>
        <p:spPr>
          <a:xfrm>
            <a:off x="8183880" y="39319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400"/>
              <a:buFont typeface="Calibri"/>
              <a:buNone/>
            </a:pPr>
            <a:r>
              <a:rPr b="0" i="0" lang="en-US" sz="1400" u="none" cap="none" strike="noStrike">
                <a:solidFill>
                  <a:srgbClr val="BFD8E0"/>
                </a:solidFill>
                <a:latin typeface="Calibri"/>
                <a:ea typeface="Calibri"/>
                <a:cs typeface="Calibri"/>
                <a:sym typeface="Calibri"/>
              </a:rPr>
              <a:t>Wir liegen    </a:t>
            </a:r>
            <a:r>
              <a:rPr b="1" i="0" lang="en-US" sz="1400" u="none" cap="none" strike="noStrike">
                <a:solidFill>
                  <a:srgbClr val="E9B44C"/>
                </a:solidFill>
                <a:latin typeface="Calibri"/>
                <a:ea typeface="Calibri"/>
                <a:cs typeface="Calibri"/>
                <a:sym typeface="Calibri"/>
              </a:rPr>
              <a:t>ca. 43 € darunter</a:t>
            </a:r>
            <a:endParaRPr b="0" i="0" sz="1400" u="none" cap="none" strike="noStrike">
              <a:solidFill>
                <a:schemeClr val="dk1"/>
              </a:solidFill>
              <a:latin typeface="Calibri"/>
              <a:ea typeface="Calibri"/>
              <a:cs typeface="Calibri"/>
              <a:sym typeface="Calibri"/>
            </a:endParaRPr>
          </a:p>
        </p:txBody>
      </p:sp>
      <p:sp>
        <p:nvSpPr>
          <p:cNvPr id="200" name="Google Shape;200;p11"/>
          <p:cNvSpPr/>
          <p:nvPr/>
        </p:nvSpPr>
        <p:spPr>
          <a:xfrm>
            <a:off x="7909560" y="4983480"/>
            <a:ext cx="3639312" cy="1051560"/>
          </a:xfrm>
          <a:prstGeom prst="roundRect">
            <a:avLst>
              <a:gd fmla="val 8696"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8138160" y="5074920"/>
            <a:ext cx="3200400" cy="86868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Wenn wir noch Frühstück dazunehmen (ca. 4 € pro Nacht), bleiben wir trotzdem unter 350 €.</a:t>
            </a:r>
            <a:endParaRPr b="0" i="0" sz="1250" u="none" cap="none" strike="noStrike">
              <a:solidFill>
                <a:schemeClr val="dk1"/>
              </a:solidFill>
              <a:latin typeface="Calibri"/>
              <a:ea typeface="Calibri"/>
              <a:cs typeface="Calibri"/>
              <a:sym typeface="Calibri"/>
            </a:endParaRPr>
          </a:p>
        </p:txBody>
      </p:sp>
      <p:sp>
        <p:nvSpPr>
          <p:cNvPr id="202" name="Google Shape;202;p11"/>
          <p:cNvSpPr/>
          <p:nvPr/>
        </p:nvSpPr>
        <p:spPr>
          <a:xfrm>
            <a:off x="548640" y="6172200"/>
            <a:ext cx="6949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250"/>
              <a:buFont typeface="Calibri"/>
              <a:buNone/>
            </a:pPr>
            <a:r>
              <a:rPr b="0" i="1" lang="en-US" sz="1250" u="none" cap="none" strike="noStrike">
                <a:solidFill>
                  <a:srgbClr val="5B7682"/>
                </a:solidFill>
                <a:latin typeface="Calibri"/>
                <a:ea typeface="Calibri"/>
                <a:cs typeface="Calibri"/>
                <a:sym typeface="Calibri"/>
              </a:rPr>
              <a:t>Das Essen zahlt jeder selbst, es ist im Preis nicht dabei.</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2"/>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SO KÖNNTE DIE WOCHE AUSSEHEN</a:t>
            </a:r>
            <a:endParaRPr b="0" i="0" sz="1250" u="none" cap="none" strike="noStrike">
              <a:solidFill>
                <a:schemeClr val="dk1"/>
              </a:solidFill>
              <a:latin typeface="Calibri"/>
              <a:ea typeface="Calibri"/>
              <a:cs typeface="Calibri"/>
              <a:sym typeface="Calibri"/>
            </a:endParaRPr>
          </a:p>
        </p:txBody>
      </p:sp>
      <p:sp>
        <p:nvSpPr>
          <p:cNvPr id="209" name="Google Shape;209;p12"/>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Unser Plan für die fünf Tage</a:t>
            </a:r>
            <a:endParaRPr b="0" i="0" sz="3100" u="none" cap="none" strike="noStrike">
              <a:solidFill>
                <a:schemeClr val="dk1"/>
              </a:solidFill>
              <a:latin typeface="Calibri"/>
              <a:ea typeface="Calibri"/>
              <a:cs typeface="Calibri"/>
              <a:sym typeface="Calibri"/>
            </a:endParaRPr>
          </a:p>
        </p:txBody>
      </p:sp>
      <p:sp>
        <p:nvSpPr>
          <p:cNvPr id="210" name="Google Shape;210;p12"/>
          <p:cNvSpPr/>
          <p:nvPr/>
        </p:nvSpPr>
        <p:spPr>
          <a:xfrm>
            <a:off x="640080" y="1783080"/>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640080" y="1783080"/>
            <a:ext cx="1417320" cy="768096"/>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640080" y="1783080"/>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1</a:t>
            </a:r>
            <a:endParaRPr b="0" i="0" sz="1900" u="none" cap="none" strike="noStrike">
              <a:solidFill>
                <a:schemeClr val="dk1"/>
              </a:solidFill>
              <a:latin typeface="Calibri"/>
              <a:ea typeface="Calibri"/>
              <a:cs typeface="Calibri"/>
              <a:sym typeface="Calibri"/>
            </a:endParaRPr>
          </a:p>
        </p:txBody>
      </p:sp>
      <p:sp>
        <p:nvSpPr>
          <p:cNvPr id="213" name="Google Shape;213;p12"/>
          <p:cNvSpPr/>
          <p:nvPr/>
        </p:nvSpPr>
        <p:spPr>
          <a:xfrm>
            <a:off x="2331720" y="1920240"/>
            <a:ext cx="493776" cy="49377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2"/>
          <p:cNvPicPr preferRelativeResize="0"/>
          <p:nvPr/>
        </p:nvPicPr>
        <p:blipFill rotWithShape="1">
          <a:blip r:embed="rId3">
            <a:alphaModFix/>
          </a:blip>
          <a:srcRect b="0" l="0" r="0" t="0"/>
          <a:stretch/>
        </p:blipFill>
        <p:spPr>
          <a:xfrm>
            <a:off x="2455164" y="2043684"/>
            <a:ext cx="246888" cy="246888"/>
          </a:xfrm>
          <a:prstGeom prst="rect">
            <a:avLst/>
          </a:prstGeom>
          <a:noFill/>
          <a:ln>
            <a:noFill/>
          </a:ln>
        </p:spPr>
      </p:pic>
      <p:sp>
        <p:nvSpPr>
          <p:cNvPr id="215" name="Google Shape;215;p12"/>
          <p:cNvSpPr/>
          <p:nvPr/>
        </p:nvSpPr>
        <p:spPr>
          <a:xfrm>
            <a:off x="3017520" y="1874520"/>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Ankommen</a:t>
            </a:r>
            <a:endParaRPr b="0" i="0" sz="1650" u="none" cap="none" strike="noStrike">
              <a:solidFill>
                <a:schemeClr val="dk1"/>
              </a:solidFill>
              <a:latin typeface="Calibri"/>
              <a:ea typeface="Calibri"/>
              <a:cs typeface="Calibri"/>
              <a:sym typeface="Calibri"/>
            </a:endParaRPr>
          </a:p>
        </p:txBody>
      </p:sp>
      <p:sp>
        <p:nvSpPr>
          <p:cNvPr id="216" name="Google Shape;216;p12"/>
          <p:cNvSpPr/>
          <p:nvPr/>
        </p:nvSpPr>
        <p:spPr>
          <a:xfrm>
            <a:off x="5760720" y="1856232"/>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Hinflug am Morgen, Fahrt zur Unterkunft und ein erster Spaziergang am Strand von Playa de Palma.</a:t>
            </a:r>
            <a:endParaRPr b="0" i="0" sz="1350" u="none" cap="none" strike="noStrike">
              <a:solidFill>
                <a:schemeClr val="dk1"/>
              </a:solidFill>
              <a:latin typeface="Calibri"/>
              <a:ea typeface="Calibri"/>
              <a:cs typeface="Calibri"/>
              <a:sym typeface="Calibri"/>
            </a:endParaRPr>
          </a:p>
        </p:txBody>
      </p:sp>
      <p:sp>
        <p:nvSpPr>
          <p:cNvPr id="217" name="Google Shape;217;p12"/>
          <p:cNvSpPr/>
          <p:nvPr/>
        </p:nvSpPr>
        <p:spPr>
          <a:xfrm>
            <a:off x="640080" y="2660904"/>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p:nvPr/>
        </p:nvSpPr>
        <p:spPr>
          <a:xfrm>
            <a:off x="640080" y="2660904"/>
            <a:ext cx="1417320" cy="768096"/>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640080" y="2660904"/>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2</a:t>
            </a:r>
            <a:endParaRPr b="0" i="0" sz="1900" u="none" cap="none" strike="noStrike">
              <a:solidFill>
                <a:schemeClr val="dk1"/>
              </a:solidFill>
              <a:latin typeface="Calibri"/>
              <a:ea typeface="Calibri"/>
              <a:cs typeface="Calibri"/>
              <a:sym typeface="Calibri"/>
            </a:endParaRPr>
          </a:p>
        </p:txBody>
      </p:sp>
      <p:sp>
        <p:nvSpPr>
          <p:cNvPr id="220" name="Google Shape;220;p12"/>
          <p:cNvSpPr/>
          <p:nvPr/>
        </p:nvSpPr>
        <p:spPr>
          <a:xfrm>
            <a:off x="2331720" y="2798064"/>
            <a:ext cx="493776" cy="493776"/>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12"/>
          <p:cNvPicPr preferRelativeResize="0"/>
          <p:nvPr/>
        </p:nvPicPr>
        <p:blipFill rotWithShape="1">
          <a:blip r:embed="rId4">
            <a:alphaModFix/>
          </a:blip>
          <a:srcRect b="0" l="0" r="0" t="0"/>
          <a:stretch/>
        </p:blipFill>
        <p:spPr>
          <a:xfrm>
            <a:off x="2455164" y="2921508"/>
            <a:ext cx="246888" cy="246888"/>
          </a:xfrm>
          <a:prstGeom prst="rect">
            <a:avLst/>
          </a:prstGeom>
          <a:noFill/>
          <a:ln>
            <a:noFill/>
          </a:ln>
        </p:spPr>
      </p:pic>
      <p:sp>
        <p:nvSpPr>
          <p:cNvPr id="222" name="Google Shape;222;p12"/>
          <p:cNvSpPr/>
          <p:nvPr/>
        </p:nvSpPr>
        <p:spPr>
          <a:xfrm>
            <a:off x="3017520" y="2752344"/>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Palma ansehen</a:t>
            </a:r>
            <a:endParaRPr b="0" i="0" sz="1650" u="none" cap="none" strike="noStrike">
              <a:solidFill>
                <a:schemeClr val="dk1"/>
              </a:solidFill>
              <a:latin typeface="Calibri"/>
              <a:ea typeface="Calibri"/>
              <a:cs typeface="Calibri"/>
              <a:sym typeface="Calibri"/>
            </a:endParaRPr>
          </a:p>
        </p:txBody>
      </p:sp>
      <p:sp>
        <p:nvSpPr>
          <p:cNvPr id="223" name="Google Shape;223;p12"/>
          <p:cNvSpPr/>
          <p:nvPr/>
        </p:nvSpPr>
        <p:spPr>
          <a:xfrm>
            <a:off x="5760720" y="2734056"/>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Vormittags die Kathedrale und die Altstadt, dann der Markt mit einer Spanisch-Aufgabe, nachmittags die Burg Bellver.</a:t>
            </a:r>
            <a:endParaRPr b="0" i="0" sz="1350" u="none" cap="none" strike="noStrike">
              <a:solidFill>
                <a:schemeClr val="dk1"/>
              </a:solidFill>
              <a:latin typeface="Calibri"/>
              <a:ea typeface="Calibri"/>
              <a:cs typeface="Calibri"/>
              <a:sym typeface="Calibri"/>
            </a:endParaRPr>
          </a:p>
        </p:txBody>
      </p:sp>
      <p:sp>
        <p:nvSpPr>
          <p:cNvPr id="224" name="Google Shape;224;p12"/>
          <p:cNvSpPr/>
          <p:nvPr/>
        </p:nvSpPr>
        <p:spPr>
          <a:xfrm>
            <a:off x="640080" y="3538728"/>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640080" y="3538728"/>
            <a:ext cx="1417320" cy="768096"/>
          </a:xfrm>
          <a:prstGeom prst="rect">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640080" y="3538728"/>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3</a:t>
            </a:r>
            <a:endParaRPr b="0" i="0" sz="1900" u="none" cap="none" strike="noStrike">
              <a:solidFill>
                <a:schemeClr val="dk1"/>
              </a:solidFill>
              <a:latin typeface="Calibri"/>
              <a:ea typeface="Calibri"/>
              <a:cs typeface="Calibri"/>
              <a:sym typeface="Calibri"/>
            </a:endParaRPr>
          </a:p>
        </p:txBody>
      </p:sp>
      <p:sp>
        <p:nvSpPr>
          <p:cNvPr id="227" name="Google Shape;227;p12"/>
          <p:cNvSpPr/>
          <p:nvPr/>
        </p:nvSpPr>
        <p:spPr>
          <a:xfrm>
            <a:off x="2331720" y="3675888"/>
            <a:ext cx="493776" cy="493776"/>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 name="Google Shape;228;p12"/>
          <p:cNvPicPr preferRelativeResize="0"/>
          <p:nvPr/>
        </p:nvPicPr>
        <p:blipFill rotWithShape="1">
          <a:blip r:embed="rId5">
            <a:alphaModFix/>
          </a:blip>
          <a:srcRect b="0" l="0" r="0" t="0"/>
          <a:stretch/>
        </p:blipFill>
        <p:spPr>
          <a:xfrm>
            <a:off x="2455164" y="3799332"/>
            <a:ext cx="246888" cy="246888"/>
          </a:xfrm>
          <a:prstGeom prst="rect">
            <a:avLst/>
          </a:prstGeom>
          <a:noFill/>
          <a:ln>
            <a:noFill/>
          </a:ln>
        </p:spPr>
      </p:pic>
      <p:sp>
        <p:nvSpPr>
          <p:cNvPr id="229" name="Google Shape;229;p12"/>
          <p:cNvSpPr/>
          <p:nvPr/>
        </p:nvSpPr>
        <p:spPr>
          <a:xfrm>
            <a:off x="3017520" y="3630168"/>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Römertag</a:t>
            </a:r>
            <a:endParaRPr b="0" i="0" sz="1650" u="none" cap="none" strike="noStrike">
              <a:solidFill>
                <a:schemeClr val="dk1"/>
              </a:solidFill>
              <a:latin typeface="Calibri"/>
              <a:ea typeface="Calibri"/>
              <a:cs typeface="Calibri"/>
              <a:sym typeface="Calibri"/>
            </a:endParaRPr>
          </a:p>
        </p:txBody>
      </p:sp>
      <p:sp>
        <p:nvSpPr>
          <p:cNvPr id="230" name="Google Shape;230;p12"/>
          <p:cNvSpPr/>
          <p:nvPr/>
        </p:nvSpPr>
        <p:spPr>
          <a:xfrm>
            <a:off x="5760720" y="3611880"/>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Mit dem Bus nach Pollentia, die Ruinen und das Museum ansehen, danach durch die Altstadt von Alcúdia.</a:t>
            </a:r>
            <a:endParaRPr b="0" i="0" sz="1350" u="none" cap="none" strike="noStrike">
              <a:solidFill>
                <a:schemeClr val="dk1"/>
              </a:solidFill>
              <a:latin typeface="Calibri"/>
              <a:ea typeface="Calibri"/>
              <a:cs typeface="Calibri"/>
              <a:sym typeface="Calibri"/>
            </a:endParaRPr>
          </a:p>
        </p:txBody>
      </p:sp>
      <p:sp>
        <p:nvSpPr>
          <p:cNvPr id="231" name="Google Shape;231;p12"/>
          <p:cNvSpPr/>
          <p:nvPr/>
        </p:nvSpPr>
        <p:spPr>
          <a:xfrm>
            <a:off x="640080" y="4416552"/>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40080" y="4416552"/>
            <a:ext cx="1417320" cy="768096"/>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640080" y="4416552"/>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4</a:t>
            </a:r>
            <a:endParaRPr b="0" i="0" sz="1900" u="none" cap="none" strike="noStrike">
              <a:solidFill>
                <a:schemeClr val="dk1"/>
              </a:solidFill>
              <a:latin typeface="Calibri"/>
              <a:ea typeface="Calibri"/>
              <a:cs typeface="Calibri"/>
              <a:sym typeface="Calibri"/>
            </a:endParaRPr>
          </a:p>
        </p:txBody>
      </p:sp>
      <p:sp>
        <p:nvSpPr>
          <p:cNvPr id="234" name="Google Shape;234;p12"/>
          <p:cNvSpPr/>
          <p:nvPr/>
        </p:nvSpPr>
        <p:spPr>
          <a:xfrm>
            <a:off x="2331720" y="4553712"/>
            <a:ext cx="493776" cy="493776"/>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12"/>
          <p:cNvPicPr preferRelativeResize="0"/>
          <p:nvPr/>
        </p:nvPicPr>
        <p:blipFill rotWithShape="1">
          <a:blip r:embed="rId6">
            <a:alphaModFix/>
          </a:blip>
          <a:srcRect b="0" l="0" r="0" t="0"/>
          <a:stretch/>
        </p:blipFill>
        <p:spPr>
          <a:xfrm>
            <a:off x="2455164" y="4677156"/>
            <a:ext cx="246888" cy="246888"/>
          </a:xfrm>
          <a:prstGeom prst="rect">
            <a:avLst/>
          </a:prstGeom>
          <a:noFill/>
          <a:ln>
            <a:noFill/>
          </a:ln>
        </p:spPr>
      </p:pic>
      <p:sp>
        <p:nvSpPr>
          <p:cNvPr id="236" name="Google Shape;236;p12"/>
          <p:cNvSpPr/>
          <p:nvPr/>
        </p:nvSpPr>
        <p:spPr>
          <a:xfrm>
            <a:off x="3017520" y="4507992"/>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Insel ansehen</a:t>
            </a:r>
            <a:endParaRPr b="0" i="0" sz="1650" u="none" cap="none" strike="noStrike">
              <a:solidFill>
                <a:schemeClr val="dk1"/>
              </a:solidFill>
              <a:latin typeface="Calibri"/>
              <a:ea typeface="Calibri"/>
              <a:cs typeface="Calibri"/>
              <a:sym typeface="Calibri"/>
            </a:endParaRPr>
          </a:p>
        </p:txBody>
      </p:sp>
      <p:sp>
        <p:nvSpPr>
          <p:cNvPr id="237" name="Google Shape;237;p12"/>
          <p:cNvSpPr/>
          <p:nvPr/>
        </p:nvSpPr>
        <p:spPr>
          <a:xfrm>
            <a:off x="5760720" y="4489704"/>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Ausflug nach Sóller mit der alten Bahn, vorbei an Orangenbäumen und den Bergen der Tramuntana.</a:t>
            </a:r>
            <a:endParaRPr b="0" i="0" sz="1350" u="none" cap="none" strike="noStrike">
              <a:solidFill>
                <a:schemeClr val="dk1"/>
              </a:solidFill>
              <a:latin typeface="Calibri"/>
              <a:ea typeface="Calibri"/>
              <a:cs typeface="Calibri"/>
              <a:sym typeface="Calibri"/>
            </a:endParaRPr>
          </a:p>
        </p:txBody>
      </p:sp>
      <p:sp>
        <p:nvSpPr>
          <p:cNvPr id="238" name="Google Shape;238;p12"/>
          <p:cNvSpPr/>
          <p:nvPr/>
        </p:nvSpPr>
        <p:spPr>
          <a:xfrm>
            <a:off x="640080" y="5294376"/>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40080" y="5294376"/>
            <a:ext cx="1417320" cy="768096"/>
          </a:xfrm>
          <a:prstGeom prst="rect">
            <a:avLst/>
          </a:prstGeom>
          <a:solidFill>
            <a:srgbClr val="D98C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40080" y="5294376"/>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5</a:t>
            </a:r>
            <a:endParaRPr b="0" i="0" sz="1900" u="none" cap="none" strike="noStrike">
              <a:solidFill>
                <a:schemeClr val="dk1"/>
              </a:solidFill>
              <a:latin typeface="Calibri"/>
              <a:ea typeface="Calibri"/>
              <a:cs typeface="Calibri"/>
              <a:sym typeface="Calibri"/>
            </a:endParaRPr>
          </a:p>
        </p:txBody>
      </p:sp>
      <p:sp>
        <p:nvSpPr>
          <p:cNvPr id="241" name="Google Shape;241;p12"/>
          <p:cNvSpPr/>
          <p:nvPr/>
        </p:nvSpPr>
        <p:spPr>
          <a:xfrm>
            <a:off x="2331720" y="5431536"/>
            <a:ext cx="493776" cy="493776"/>
          </a:xfrm>
          <a:prstGeom prst="ellipse">
            <a:avLst/>
          </a:prstGeom>
          <a:solidFill>
            <a:srgbClr val="D98C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2" name="Google Shape;242;p12"/>
          <p:cNvPicPr preferRelativeResize="0"/>
          <p:nvPr/>
        </p:nvPicPr>
        <p:blipFill rotWithShape="1">
          <a:blip r:embed="rId7">
            <a:alphaModFix/>
          </a:blip>
          <a:srcRect b="0" l="0" r="0" t="0"/>
          <a:stretch/>
        </p:blipFill>
        <p:spPr>
          <a:xfrm>
            <a:off x="2455164" y="5554980"/>
            <a:ext cx="246888" cy="246888"/>
          </a:xfrm>
          <a:prstGeom prst="rect">
            <a:avLst/>
          </a:prstGeom>
          <a:noFill/>
          <a:ln>
            <a:noFill/>
          </a:ln>
        </p:spPr>
      </p:pic>
      <p:sp>
        <p:nvSpPr>
          <p:cNvPr id="243" name="Google Shape;243;p12"/>
          <p:cNvSpPr/>
          <p:nvPr/>
        </p:nvSpPr>
        <p:spPr>
          <a:xfrm>
            <a:off x="3017520" y="5385816"/>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Abreise</a:t>
            </a:r>
            <a:endParaRPr b="0" i="0" sz="1650" u="none" cap="none" strike="noStrike">
              <a:solidFill>
                <a:schemeClr val="dk1"/>
              </a:solidFill>
              <a:latin typeface="Calibri"/>
              <a:ea typeface="Calibri"/>
              <a:cs typeface="Calibri"/>
              <a:sym typeface="Calibri"/>
            </a:endParaRPr>
          </a:p>
        </p:txBody>
      </p:sp>
      <p:sp>
        <p:nvSpPr>
          <p:cNvPr id="244" name="Google Shape;244;p12"/>
          <p:cNvSpPr/>
          <p:nvPr/>
        </p:nvSpPr>
        <p:spPr>
          <a:xfrm>
            <a:off x="5760720" y="5367528"/>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Vormittags noch frei für letzte Einkäufe, am Nachmittag geht der Rückflug nach Hause.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3"/>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GUT GEPLANT</a:t>
            </a:r>
            <a:endParaRPr b="0" i="0" sz="1250" u="none" cap="none" strike="noStrike">
              <a:solidFill>
                <a:schemeClr val="dk1"/>
              </a:solidFill>
              <a:latin typeface="Calibri"/>
              <a:ea typeface="Calibri"/>
              <a:cs typeface="Calibri"/>
              <a:sym typeface="Calibri"/>
            </a:endParaRPr>
          </a:p>
        </p:txBody>
      </p:sp>
      <p:sp>
        <p:nvSpPr>
          <p:cNvPr id="251" name="Google Shape;251;p13"/>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Wir haben auch an die Sicherheit gedacht</a:t>
            </a:r>
            <a:endParaRPr b="0" i="0" sz="3100" u="none" cap="none" strike="noStrike">
              <a:solidFill>
                <a:schemeClr val="dk1"/>
              </a:solidFill>
              <a:latin typeface="Calibri"/>
              <a:ea typeface="Calibri"/>
              <a:cs typeface="Calibri"/>
              <a:sym typeface="Calibri"/>
            </a:endParaRPr>
          </a:p>
        </p:txBody>
      </p:sp>
      <p:sp>
        <p:nvSpPr>
          <p:cNvPr id="252" name="Google Shape;252;p13"/>
          <p:cNvSpPr/>
          <p:nvPr/>
        </p:nvSpPr>
        <p:spPr>
          <a:xfrm>
            <a:off x="640080" y="178308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1005840" y="2258568"/>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4" name="Google Shape;254;p13"/>
          <p:cNvPicPr preferRelativeResize="0"/>
          <p:nvPr/>
        </p:nvPicPr>
        <p:blipFill rotWithShape="1">
          <a:blip r:embed="rId3">
            <a:alphaModFix/>
          </a:blip>
          <a:srcRect b="0" l="0" r="0" t="0"/>
          <a:stretch/>
        </p:blipFill>
        <p:spPr>
          <a:xfrm>
            <a:off x="1223010" y="2475738"/>
            <a:ext cx="434340" cy="434340"/>
          </a:xfrm>
          <a:prstGeom prst="rect">
            <a:avLst/>
          </a:prstGeom>
          <a:noFill/>
          <a:ln>
            <a:noFill/>
          </a:ln>
        </p:spPr>
      </p:pic>
      <p:sp>
        <p:nvSpPr>
          <p:cNvPr id="255" name="Google Shape;255;p13"/>
          <p:cNvSpPr/>
          <p:nvPr/>
        </p:nvSpPr>
        <p:spPr>
          <a:xfrm>
            <a:off x="2103120" y="214884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Das Geld ist abgesichert</a:t>
            </a:r>
            <a:endParaRPr b="0" i="0" sz="1700" u="none" cap="none" strike="noStrike">
              <a:solidFill>
                <a:schemeClr val="dk1"/>
              </a:solidFill>
              <a:latin typeface="Calibri"/>
              <a:ea typeface="Calibri"/>
              <a:cs typeface="Calibri"/>
              <a:sym typeface="Calibri"/>
            </a:endParaRPr>
          </a:p>
        </p:txBody>
      </p:sp>
      <p:sp>
        <p:nvSpPr>
          <p:cNvPr id="256" name="Google Shape;256;p13"/>
          <p:cNvSpPr/>
          <p:nvPr/>
        </p:nvSpPr>
        <p:spPr>
          <a:xfrm>
            <a:off x="2103120" y="260604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Über einen Reisepreissicherungsschein ist das eingezahlte Geld geschützt, falls die Reise doch einmal nicht klappt.</a:t>
            </a:r>
            <a:endParaRPr b="0" i="0" sz="1350" u="none" cap="none" strike="noStrike">
              <a:solidFill>
                <a:schemeClr val="dk1"/>
              </a:solidFill>
              <a:latin typeface="Calibri"/>
              <a:ea typeface="Calibri"/>
              <a:cs typeface="Calibri"/>
              <a:sym typeface="Calibri"/>
            </a:endParaRPr>
          </a:p>
        </p:txBody>
      </p:sp>
      <p:sp>
        <p:nvSpPr>
          <p:cNvPr id="257" name="Google Shape;257;p13"/>
          <p:cNvSpPr/>
          <p:nvPr/>
        </p:nvSpPr>
        <p:spPr>
          <a:xfrm>
            <a:off x="6291072" y="178308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6656832" y="2258568"/>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13"/>
          <p:cNvPicPr preferRelativeResize="0"/>
          <p:nvPr/>
        </p:nvPicPr>
        <p:blipFill rotWithShape="1">
          <a:blip r:embed="rId4">
            <a:alphaModFix/>
          </a:blip>
          <a:srcRect b="0" l="0" r="0" t="0"/>
          <a:stretch/>
        </p:blipFill>
        <p:spPr>
          <a:xfrm>
            <a:off x="6874002" y="2475738"/>
            <a:ext cx="434340" cy="434340"/>
          </a:xfrm>
          <a:prstGeom prst="rect">
            <a:avLst/>
          </a:prstGeom>
          <a:noFill/>
          <a:ln>
            <a:noFill/>
          </a:ln>
        </p:spPr>
      </p:pic>
      <p:sp>
        <p:nvSpPr>
          <p:cNvPr id="260" name="Google Shape;260;p13"/>
          <p:cNvSpPr/>
          <p:nvPr/>
        </p:nvSpPr>
        <p:spPr>
          <a:xfrm>
            <a:off x="7754112" y="214884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Fester Preis für die Gruppe</a:t>
            </a:r>
            <a:endParaRPr b="0" i="0" sz="1700" u="none" cap="none" strike="noStrike">
              <a:solidFill>
                <a:schemeClr val="dk1"/>
              </a:solidFill>
              <a:latin typeface="Calibri"/>
              <a:ea typeface="Calibri"/>
              <a:cs typeface="Calibri"/>
              <a:sym typeface="Calibri"/>
            </a:endParaRPr>
          </a:p>
        </p:txBody>
      </p:sp>
      <p:sp>
        <p:nvSpPr>
          <p:cNvPr id="261" name="Google Shape;261;p13"/>
          <p:cNvSpPr/>
          <p:nvPr/>
        </p:nvSpPr>
        <p:spPr>
          <a:xfrm>
            <a:off x="7754112" y="260604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Ein Reiseanbieter plant Flug und Unterkunft für alle 65 zusammen, zu einem festen Preis ohne böse Überraschungen.</a:t>
            </a:r>
            <a:endParaRPr b="0" i="0" sz="1350" u="none" cap="none" strike="noStrike">
              <a:solidFill>
                <a:schemeClr val="dk1"/>
              </a:solidFill>
              <a:latin typeface="Calibri"/>
              <a:ea typeface="Calibri"/>
              <a:cs typeface="Calibri"/>
              <a:sym typeface="Calibri"/>
            </a:endParaRPr>
          </a:p>
        </p:txBody>
      </p:sp>
      <p:sp>
        <p:nvSpPr>
          <p:cNvPr id="262" name="Google Shape;262;p13"/>
          <p:cNvSpPr/>
          <p:nvPr/>
        </p:nvSpPr>
        <p:spPr>
          <a:xfrm>
            <a:off x="640080" y="393192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1005840" y="4407408"/>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13"/>
          <p:cNvPicPr preferRelativeResize="0"/>
          <p:nvPr/>
        </p:nvPicPr>
        <p:blipFill rotWithShape="1">
          <a:blip r:embed="rId5">
            <a:alphaModFix/>
          </a:blip>
          <a:srcRect b="0" l="0" r="0" t="0"/>
          <a:stretch/>
        </p:blipFill>
        <p:spPr>
          <a:xfrm>
            <a:off x="1223010" y="4624578"/>
            <a:ext cx="434340" cy="434340"/>
          </a:xfrm>
          <a:prstGeom prst="rect">
            <a:avLst/>
          </a:prstGeom>
          <a:noFill/>
          <a:ln>
            <a:noFill/>
          </a:ln>
        </p:spPr>
      </p:pic>
      <p:sp>
        <p:nvSpPr>
          <p:cNvPr id="265" name="Google Shape;265;p13"/>
          <p:cNvSpPr/>
          <p:nvPr/>
        </p:nvSpPr>
        <p:spPr>
          <a:xfrm>
            <a:off x="2103120" y="429768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Alles wird organisiert</a:t>
            </a:r>
            <a:endParaRPr b="0" i="0" sz="1700" u="none" cap="none" strike="noStrike">
              <a:solidFill>
                <a:schemeClr val="dk1"/>
              </a:solidFill>
              <a:latin typeface="Calibri"/>
              <a:ea typeface="Calibri"/>
              <a:cs typeface="Calibri"/>
              <a:sym typeface="Calibri"/>
            </a:endParaRPr>
          </a:p>
        </p:txBody>
      </p:sp>
      <p:sp>
        <p:nvSpPr>
          <p:cNvPr id="266" name="Google Shape;266;p13"/>
          <p:cNvSpPr/>
          <p:nvPr/>
        </p:nvSpPr>
        <p:spPr>
          <a:xfrm>
            <a:off x="2103120" y="475488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Der Anbieter kümmert sich um Flug, Unterkunft, Fahrten und Programm. Sie müssen nicht alles allein planen.</a:t>
            </a:r>
            <a:endParaRPr b="0" i="0" sz="1350" u="none" cap="none" strike="noStrike">
              <a:solidFill>
                <a:schemeClr val="dk1"/>
              </a:solidFill>
              <a:latin typeface="Calibri"/>
              <a:ea typeface="Calibri"/>
              <a:cs typeface="Calibri"/>
              <a:sym typeface="Calibri"/>
            </a:endParaRPr>
          </a:p>
        </p:txBody>
      </p:sp>
      <p:sp>
        <p:nvSpPr>
          <p:cNvPr id="267" name="Google Shape;267;p13"/>
          <p:cNvSpPr/>
          <p:nvPr/>
        </p:nvSpPr>
        <p:spPr>
          <a:xfrm>
            <a:off x="6291072" y="393192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6656832" y="4407408"/>
            <a:ext cx="868680" cy="868680"/>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13"/>
          <p:cNvPicPr preferRelativeResize="0"/>
          <p:nvPr/>
        </p:nvPicPr>
        <p:blipFill rotWithShape="1">
          <a:blip r:embed="rId6">
            <a:alphaModFix/>
          </a:blip>
          <a:srcRect b="0" l="0" r="0" t="0"/>
          <a:stretch/>
        </p:blipFill>
        <p:spPr>
          <a:xfrm>
            <a:off x="6874002" y="4624578"/>
            <a:ext cx="434340" cy="434340"/>
          </a:xfrm>
          <a:prstGeom prst="rect">
            <a:avLst/>
          </a:prstGeom>
          <a:noFill/>
          <a:ln>
            <a:noFill/>
          </a:ln>
        </p:spPr>
      </p:pic>
      <p:sp>
        <p:nvSpPr>
          <p:cNvPr id="270" name="Google Shape;270;p13"/>
          <p:cNvSpPr/>
          <p:nvPr/>
        </p:nvSpPr>
        <p:spPr>
          <a:xfrm>
            <a:off x="7754112" y="429768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Eigene Zimmer für Sie</a:t>
            </a:r>
            <a:endParaRPr b="0" i="0" sz="1700" u="none" cap="none" strike="noStrike">
              <a:solidFill>
                <a:schemeClr val="dk1"/>
              </a:solidFill>
              <a:latin typeface="Calibri"/>
              <a:ea typeface="Calibri"/>
              <a:cs typeface="Calibri"/>
              <a:sym typeface="Calibri"/>
            </a:endParaRPr>
          </a:p>
        </p:txBody>
      </p:sp>
      <p:sp>
        <p:nvSpPr>
          <p:cNvPr id="271" name="Google Shape;271;p13"/>
          <p:cNvSpPr/>
          <p:nvPr/>
        </p:nvSpPr>
        <p:spPr>
          <a:xfrm>
            <a:off x="7754112" y="475488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Für die Lehrerinnen und Lehrer gibt es Einzelzimmer, und das Programm steht schon vor der Fahrt fest.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4D68"/>
        </a:solidFill>
      </p:bgPr>
    </p:bg>
    <p:spTree>
      <p:nvGrpSpPr>
        <p:cNvPr id="276" name="Shape 276"/>
        <p:cNvGrpSpPr/>
        <p:nvPr/>
      </p:nvGrpSpPr>
      <p:grpSpPr>
        <a:xfrm>
          <a:off x="0" y="0"/>
          <a:ext cx="0" cy="0"/>
          <a:chOff x="0" y="0"/>
          <a:chExt cx="0" cy="0"/>
        </a:xfrm>
      </p:grpSpPr>
      <p:sp>
        <p:nvSpPr>
          <p:cNvPr id="277" name="Google Shape;277;p14"/>
          <p:cNvSpPr/>
          <p:nvPr/>
        </p:nvSpPr>
        <p:spPr>
          <a:xfrm>
            <a:off x="10332720" y="5212080"/>
            <a:ext cx="3017520" cy="3017520"/>
          </a:xfrm>
          <a:prstGeom prst="ellipse">
            <a:avLst/>
          </a:prstGeom>
          <a:solidFill>
            <a:srgbClr val="E9B44C">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10332720" y="-1280160"/>
            <a:ext cx="3108960" cy="3108960"/>
          </a:xfrm>
          <a:prstGeom prst="ellipse">
            <a:avLst/>
          </a:prstGeom>
          <a:solidFill>
            <a:srgbClr val="088395">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640080" y="109728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UNSERE BITTE</a:t>
            </a:r>
            <a:endParaRPr b="0" i="0" sz="1250" u="none" cap="none" strike="noStrike">
              <a:solidFill>
                <a:schemeClr val="dk1"/>
              </a:solidFill>
              <a:latin typeface="Calibri"/>
              <a:ea typeface="Calibri"/>
              <a:cs typeface="Calibri"/>
              <a:sym typeface="Calibri"/>
            </a:endParaRPr>
          </a:p>
        </p:txBody>
      </p:sp>
      <p:sp>
        <p:nvSpPr>
          <p:cNvPr id="280" name="Google Shape;280;p14"/>
          <p:cNvSpPr/>
          <p:nvPr/>
        </p:nvSpPr>
        <p:spPr>
          <a:xfrm>
            <a:off x="640080" y="1508760"/>
            <a:ext cx="1051560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Dürfen wir Angebote</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einholen?</a:t>
            </a:r>
            <a:endParaRPr b="0" i="0" sz="4000" u="none" cap="none" strike="noStrike">
              <a:solidFill>
                <a:schemeClr val="dk1"/>
              </a:solidFill>
              <a:latin typeface="Calibri"/>
              <a:ea typeface="Calibri"/>
              <a:cs typeface="Calibri"/>
              <a:sym typeface="Calibri"/>
            </a:endParaRPr>
          </a:p>
        </p:txBody>
      </p:sp>
      <p:sp>
        <p:nvSpPr>
          <p:cNvPr id="281" name="Google Shape;281;p14"/>
          <p:cNvSpPr/>
          <p:nvPr/>
        </p:nvSpPr>
        <p:spPr>
          <a:xfrm>
            <a:off x="640080" y="3200400"/>
            <a:ext cx="100584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1AABF"/>
              </a:buClr>
              <a:buSzPts val="1650"/>
              <a:buFont typeface="Calibri"/>
              <a:buNone/>
            </a:pPr>
            <a:r>
              <a:rPr b="0" i="0" lang="en-US" sz="1650" u="none" cap="none" strike="noStrike">
                <a:solidFill>
                  <a:srgbClr val="41AABF"/>
                </a:solidFill>
                <a:latin typeface="Calibri"/>
                <a:ea typeface="Calibri"/>
                <a:cs typeface="Calibri"/>
                <a:sym typeface="Calibri"/>
              </a:rPr>
              <a:t>Wenn Sie einverstanden sind, fragen wir bei zwei oder drei Anbietern nach einem festen Preis. Dann sehen wir genau, was es kostet, und können zusammen entscheiden. Wir würden uns sehr über diese Klassenfahrt freuen.</a:t>
            </a:r>
            <a:endParaRPr b="0" i="0" sz="1650" u="none" cap="none" strike="noStrike">
              <a:solidFill>
                <a:schemeClr val="dk1"/>
              </a:solidFill>
              <a:latin typeface="Calibri"/>
              <a:ea typeface="Calibri"/>
              <a:cs typeface="Calibri"/>
              <a:sym typeface="Calibri"/>
            </a:endParaRPr>
          </a:p>
        </p:txBody>
      </p:sp>
      <p:cxnSp>
        <p:nvCxnSpPr>
          <p:cNvPr id="282" name="Google Shape;282;p14"/>
          <p:cNvCxnSpPr/>
          <p:nvPr/>
        </p:nvCxnSpPr>
        <p:spPr>
          <a:xfrm>
            <a:off x="640080" y="4617720"/>
            <a:ext cx="10972800" cy="0"/>
          </a:xfrm>
          <a:prstGeom prst="straightConnector1">
            <a:avLst/>
          </a:prstGeom>
          <a:noFill/>
          <a:ln cap="flat" cmpd="sng" w="12700">
            <a:solidFill>
              <a:srgbClr val="088395"/>
            </a:solidFill>
            <a:prstDash val="solid"/>
            <a:round/>
            <a:headEnd len="sm" w="sm" type="none"/>
            <a:tailEnd len="sm" w="sm" type="none"/>
          </a:ln>
        </p:spPr>
      </p:cxnSp>
      <p:sp>
        <p:nvSpPr>
          <p:cNvPr id="283" name="Google Shape;283;p14"/>
          <p:cNvSpPr/>
          <p:nvPr/>
        </p:nvSpPr>
        <p:spPr>
          <a:xfrm>
            <a:off x="640080" y="484632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500"/>
              <a:buFont typeface="Calibri"/>
              <a:buNone/>
            </a:pPr>
            <a:r>
              <a:rPr b="1" i="0" lang="en-US" sz="1500" u="none" cap="none" strike="noStrike">
                <a:solidFill>
                  <a:srgbClr val="BFD8E0"/>
                </a:solidFill>
                <a:latin typeface="Calibri"/>
                <a:ea typeface="Calibri"/>
                <a:cs typeface="Calibri"/>
                <a:sym typeface="Calibri"/>
              </a:rPr>
              <a:t>65 Personen   ·   5 Tage   ·   ab ca. 300 € pro Person   ·   Spanisch, Latein und unsere Klassen</a:t>
            </a:r>
            <a:endParaRPr b="0" i="0" sz="1500" u="none" cap="none" strike="noStrike">
              <a:solidFill>
                <a:schemeClr val="dk1"/>
              </a:solidFill>
              <a:latin typeface="Calibri"/>
              <a:ea typeface="Calibri"/>
              <a:cs typeface="Calibri"/>
              <a:sym typeface="Calibri"/>
            </a:endParaRPr>
          </a:p>
        </p:txBody>
      </p:sp>
      <p:sp>
        <p:nvSpPr>
          <p:cNvPr id="284" name="Google Shape;284;p14"/>
          <p:cNvSpPr/>
          <p:nvPr/>
        </p:nvSpPr>
        <p:spPr>
          <a:xfrm>
            <a:off x="640080" y="548640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C"/>
              </a:buClr>
              <a:buSzPts val="1600"/>
              <a:buFont typeface="Calibri"/>
              <a:buNone/>
            </a:pPr>
            <a:r>
              <a:rPr b="0" i="1" lang="en-US" sz="1600" u="none" cap="none" strike="noStrike">
                <a:solidFill>
                  <a:srgbClr val="CFE6EC"/>
                </a:solidFill>
                <a:latin typeface="Calibri"/>
                <a:ea typeface="Calibri"/>
                <a:cs typeface="Calibri"/>
                <a:sym typeface="Calibri"/>
              </a:rPr>
              <a:t>Vielen Dank, dass Sie sich unsere Idee angesehen haben.</a:t>
            </a:r>
            <a:endParaRPr b="0" i="0" sz="1600" u="none" cap="none" strike="noStrike">
              <a:solidFill>
                <a:schemeClr val="dk1"/>
              </a:solidFill>
              <a:latin typeface="Calibri"/>
              <a:ea typeface="Calibri"/>
              <a:cs typeface="Calibri"/>
              <a:sym typeface="Calibri"/>
            </a:endParaRPr>
          </a:p>
        </p:txBody>
      </p:sp>
      <p:sp>
        <p:nvSpPr>
          <p:cNvPr id="285" name="Google Shape;285;p14"/>
          <p:cNvSpPr/>
          <p:nvPr/>
        </p:nvSpPr>
        <p:spPr>
          <a:xfrm>
            <a:off x="640080" y="59893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1" lang="en-US" sz="2800" u="none" cap="none" strike="noStrike">
                <a:solidFill>
                  <a:srgbClr val="E9B44C"/>
                </a:solidFill>
                <a:latin typeface="Georgia"/>
                <a:ea typeface="Georgia"/>
                <a:cs typeface="Georgia"/>
                <a:sym typeface="Georgia"/>
              </a:rPr>
              <a:t>¡Vamos a Mallorca!</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