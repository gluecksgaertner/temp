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11F8F3-DB60-49CB-BC6E-F00C86E82644}">
  <a:tblStyle styleId="{3011F8F3-DB60-49CB-BC6E-F00C86E8264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8.png"/><Relationship Id="rId6"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12.png"/><Relationship Id="rId5" Type="http://schemas.openxmlformats.org/officeDocument/2006/relationships/image" Target="../media/image18.png"/><Relationship Id="rId6" Type="http://schemas.openxmlformats.org/officeDocument/2006/relationships/image" Target="../media/image8.png"/><Relationship Id="rId7"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4D68"/>
        </a:solidFill>
      </p:bgPr>
    </p:bg>
    <p:spTree>
      <p:nvGrpSpPr>
        <p:cNvPr id="15" name="Shape 15"/>
        <p:cNvGrpSpPr/>
        <p:nvPr/>
      </p:nvGrpSpPr>
      <p:grpSpPr>
        <a:xfrm>
          <a:off x="0" y="0"/>
          <a:ext cx="0" cy="0"/>
          <a:chOff x="0" y="0"/>
          <a:chExt cx="0" cy="0"/>
        </a:xfrm>
      </p:grpSpPr>
      <p:sp>
        <p:nvSpPr>
          <p:cNvPr id="16" name="Google Shape;16;p3"/>
          <p:cNvSpPr/>
          <p:nvPr/>
        </p:nvSpPr>
        <p:spPr>
          <a:xfrm>
            <a:off x="9646920" y="-1234440"/>
            <a:ext cx="3291840" cy="3291840"/>
          </a:xfrm>
          <a:prstGeom prst="ellipse">
            <a:avLst/>
          </a:prstGeom>
          <a:solidFill>
            <a:srgbClr val="E9B44C">
              <a:alpha val="8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0241280" y="-640080"/>
            <a:ext cx="2103120" cy="2103120"/>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640080" y="132588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EIN VORSCHLAG VON UNS FÜR SIE</a:t>
            </a:r>
            <a:endParaRPr b="0" i="0" sz="1250" u="none" cap="none" strike="noStrike">
              <a:solidFill>
                <a:schemeClr val="dk1"/>
              </a:solidFill>
              <a:latin typeface="Calibri"/>
              <a:ea typeface="Calibri"/>
              <a:cs typeface="Calibri"/>
              <a:sym typeface="Calibri"/>
            </a:endParaRPr>
          </a:p>
        </p:txBody>
      </p:sp>
      <p:sp>
        <p:nvSpPr>
          <p:cNvPr id="19" name="Google Shape;19;p3"/>
          <p:cNvSpPr/>
          <p:nvPr/>
        </p:nvSpPr>
        <p:spPr>
          <a:xfrm>
            <a:off x="640080" y="1783080"/>
            <a:ext cx="8778240" cy="1737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Georgia"/>
              <a:buNone/>
            </a:pPr>
            <a:r>
              <a:rPr b="1" i="0" lang="en-US" sz="4600" u="none" cap="none" strike="noStrike">
                <a:solidFill>
                  <a:srgbClr val="FFFFFF"/>
                </a:solidFill>
                <a:latin typeface="Georgia"/>
                <a:ea typeface="Georgia"/>
                <a:cs typeface="Georgia"/>
                <a:sym typeface="Georgia"/>
              </a:rPr>
              <a:t>Unsere Idee: fünf Tage</a:t>
            </a:r>
            <a:endParaRPr b="0" i="0" sz="4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4600"/>
              <a:buFont typeface="Georgia"/>
              <a:buNone/>
            </a:pPr>
            <a:r>
              <a:rPr b="1" i="0" lang="en-US" sz="4600" u="none" cap="none" strike="noStrike">
                <a:solidFill>
                  <a:srgbClr val="FFFFFF"/>
                </a:solidFill>
                <a:latin typeface="Georgia"/>
                <a:ea typeface="Georgia"/>
                <a:cs typeface="Georgia"/>
                <a:sym typeface="Georgia"/>
              </a:rPr>
              <a:t>nach Palma de Mallorca</a:t>
            </a:r>
            <a:endParaRPr b="0" i="0" sz="4600" u="none" cap="none" strike="noStrike">
              <a:solidFill>
                <a:schemeClr val="dk1"/>
              </a:solidFill>
              <a:latin typeface="Calibri"/>
              <a:ea typeface="Calibri"/>
              <a:cs typeface="Calibri"/>
              <a:sym typeface="Calibri"/>
            </a:endParaRPr>
          </a:p>
        </p:txBody>
      </p:sp>
      <p:sp>
        <p:nvSpPr>
          <p:cNvPr id="20" name="Google Shape;20;p3"/>
          <p:cNvSpPr/>
          <p:nvPr/>
        </p:nvSpPr>
        <p:spPr>
          <a:xfrm>
            <a:off x="640080" y="3611880"/>
            <a:ext cx="8961120" cy="10972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CFE6EC"/>
              </a:buClr>
              <a:buSzPts val="1650"/>
              <a:buFont typeface="Calibri"/>
              <a:buNone/>
            </a:pPr>
            <a:r>
              <a:rPr b="0" i="0" lang="en-US" sz="1650" u="none" cap="none" strike="noStrike">
                <a:solidFill>
                  <a:srgbClr val="CFE6EC"/>
                </a:solidFill>
                <a:latin typeface="Calibri"/>
                <a:ea typeface="Calibri"/>
                <a:cs typeface="Calibri"/>
                <a:sym typeface="Calibri"/>
              </a:rPr>
              <a:t>Wir würden mit dem Spanischkurs, dem Lateinkurs und unseren Klassen gerne zusammen auf Klassenfahrt gehen. Auf den nächsten Folien zeigen wir, warum Palma gut passt und dass es nicht zu teuer wird.</a:t>
            </a:r>
            <a:endParaRPr b="0" i="0" sz="1650" u="none" cap="none" strike="noStrike">
              <a:solidFill>
                <a:schemeClr val="dk1"/>
              </a:solidFill>
              <a:latin typeface="Calibri"/>
              <a:ea typeface="Calibri"/>
              <a:cs typeface="Calibri"/>
              <a:sym typeface="Calibri"/>
            </a:endParaRPr>
          </a:p>
        </p:txBody>
      </p:sp>
      <p:cxnSp>
        <p:nvCxnSpPr>
          <p:cNvPr id="21" name="Google Shape;21;p3"/>
          <p:cNvCxnSpPr/>
          <p:nvPr/>
        </p:nvCxnSpPr>
        <p:spPr>
          <a:xfrm>
            <a:off x="640080" y="5120640"/>
            <a:ext cx="10972800" cy="0"/>
          </a:xfrm>
          <a:prstGeom prst="straightConnector1">
            <a:avLst/>
          </a:prstGeom>
          <a:noFill/>
          <a:ln cap="flat" cmpd="sng" w="12700">
            <a:solidFill>
              <a:srgbClr val="088395"/>
            </a:solidFill>
            <a:prstDash val="solid"/>
            <a:round/>
            <a:headEnd len="sm" w="sm" type="none"/>
            <a:tailEnd len="sm" w="sm" type="none"/>
          </a:ln>
        </p:spPr>
      </p:cxnSp>
      <p:sp>
        <p:nvSpPr>
          <p:cNvPr id="22" name="Google Shape;22;p3"/>
          <p:cNvSpPr/>
          <p:nvPr/>
        </p:nvSpPr>
        <p:spPr>
          <a:xfrm>
            <a:off x="640080" y="5303520"/>
            <a:ext cx="2606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2800"/>
              <a:buFont typeface="Georgia"/>
              <a:buNone/>
            </a:pPr>
            <a:r>
              <a:rPr b="1" i="0" lang="en-US" sz="2800" u="none" cap="none" strike="noStrike">
                <a:solidFill>
                  <a:srgbClr val="E9B44C"/>
                </a:solidFill>
                <a:latin typeface="Georgia"/>
                <a:ea typeface="Georgia"/>
                <a:cs typeface="Georgia"/>
                <a:sym typeface="Georgia"/>
              </a:rPr>
              <a:t>65</a:t>
            </a:r>
            <a:endParaRPr b="0" i="0" sz="2800" u="none" cap="none" strike="noStrike">
              <a:solidFill>
                <a:schemeClr val="dk1"/>
              </a:solidFill>
              <a:latin typeface="Calibri"/>
              <a:ea typeface="Calibri"/>
              <a:cs typeface="Calibri"/>
              <a:sym typeface="Calibri"/>
            </a:endParaRPr>
          </a:p>
        </p:txBody>
      </p:sp>
      <p:sp>
        <p:nvSpPr>
          <p:cNvPr id="23" name="Google Shape;23;p3"/>
          <p:cNvSpPr/>
          <p:nvPr/>
        </p:nvSpPr>
        <p:spPr>
          <a:xfrm>
            <a:off x="640080" y="5870448"/>
            <a:ext cx="2606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D8E0"/>
              </a:buClr>
              <a:buSzPts val="1300"/>
              <a:buFont typeface="Calibri"/>
              <a:buNone/>
            </a:pPr>
            <a:r>
              <a:rPr b="0" i="0" lang="en-US" sz="1300" u="none" cap="none" strike="noStrike">
                <a:solidFill>
                  <a:srgbClr val="BFD8E0"/>
                </a:solidFill>
                <a:latin typeface="Calibri"/>
                <a:ea typeface="Calibri"/>
                <a:cs typeface="Calibri"/>
                <a:sym typeface="Calibri"/>
              </a:rPr>
              <a:t>Personen</a:t>
            </a:r>
            <a:endParaRPr b="0" i="0" sz="1300" u="none" cap="none" strike="noStrike">
              <a:solidFill>
                <a:schemeClr val="dk1"/>
              </a:solidFill>
              <a:latin typeface="Calibri"/>
              <a:ea typeface="Calibri"/>
              <a:cs typeface="Calibri"/>
              <a:sym typeface="Calibri"/>
            </a:endParaRPr>
          </a:p>
        </p:txBody>
      </p:sp>
      <p:sp>
        <p:nvSpPr>
          <p:cNvPr id="24" name="Google Shape;24;p3"/>
          <p:cNvSpPr/>
          <p:nvPr/>
        </p:nvSpPr>
        <p:spPr>
          <a:xfrm>
            <a:off x="3410712" y="5303520"/>
            <a:ext cx="2606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2800"/>
              <a:buFont typeface="Georgia"/>
              <a:buNone/>
            </a:pPr>
            <a:r>
              <a:rPr b="1" i="0" lang="en-US" sz="2800" u="none" cap="none" strike="noStrike">
                <a:solidFill>
                  <a:srgbClr val="E9B44C"/>
                </a:solidFill>
                <a:latin typeface="Georgia"/>
                <a:ea typeface="Georgia"/>
                <a:cs typeface="Georgia"/>
                <a:sym typeface="Georgia"/>
              </a:rPr>
              <a:t>5</a:t>
            </a:r>
            <a:endParaRPr b="0" i="0" sz="2800" u="none" cap="none" strike="noStrike">
              <a:solidFill>
                <a:schemeClr val="dk1"/>
              </a:solidFill>
              <a:latin typeface="Calibri"/>
              <a:ea typeface="Calibri"/>
              <a:cs typeface="Calibri"/>
              <a:sym typeface="Calibri"/>
            </a:endParaRPr>
          </a:p>
        </p:txBody>
      </p:sp>
      <p:sp>
        <p:nvSpPr>
          <p:cNvPr id="25" name="Google Shape;25;p3"/>
          <p:cNvSpPr/>
          <p:nvPr/>
        </p:nvSpPr>
        <p:spPr>
          <a:xfrm>
            <a:off x="3410712" y="5870448"/>
            <a:ext cx="2606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D8E0"/>
              </a:buClr>
              <a:buSzPts val="1300"/>
              <a:buFont typeface="Calibri"/>
              <a:buNone/>
            </a:pPr>
            <a:r>
              <a:rPr b="0" i="0" lang="en-US" sz="1300" u="none" cap="none" strike="noStrike">
                <a:solidFill>
                  <a:srgbClr val="BFD8E0"/>
                </a:solidFill>
                <a:latin typeface="Calibri"/>
                <a:ea typeface="Calibri"/>
                <a:cs typeface="Calibri"/>
                <a:sym typeface="Calibri"/>
              </a:rPr>
              <a:t>Tage</a:t>
            </a:r>
            <a:endParaRPr b="0" i="0" sz="1300" u="none" cap="none" strike="noStrike">
              <a:solidFill>
                <a:schemeClr val="dk1"/>
              </a:solidFill>
              <a:latin typeface="Calibri"/>
              <a:ea typeface="Calibri"/>
              <a:cs typeface="Calibri"/>
              <a:sym typeface="Calibri"/>
            </a:endParaRPr>
          </a:p>
        </p:txBody>
      </p:sp>
      <p:sp>
        <p:nvSpPr>
          <p:cNvPr id="26" name="Google Shape;26;p3"/>
          <p:cNvSpPr/>
          <p:nvPr/>
        </p:nvSpPr>
        <p:spPr>
          <a:xfrm>
            <a:off x="6181344" y="5303520"/>
            <a:ext cx="2606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2800"/>
              <a:buFont typeface="Georgia"/>
              <a:buNone/>
            </a:pPr>
            <a:r>
              <a:rPr b="1" i="0" lang="en-US" sz="2800" u="none" cap="none" strike="noStrike">
                <a:solidFill>
                  <a:srgbClr val="E9B44C"/>
                </a:solidFill>
                <a:latin typeface="Georgia"/>
                <a:ea typeface="Georgia"/>
                <a:cs typeface="Georgia"/>
                <a:sym typeface="Georgia"/>
              </a:rPr>
              <a:t>ab ~300 €</a:t>
            </a:r>
            <a:endParaRPr b="0" i="0" sz="2800" u="none" cap="none" strike="noStrike">
              <a:solidFill>
                <a:schemeClr val="dk1"/>
              </a:solidFill>
              <a:latin typeface="Calibri"/>
              <a:ea typeface="Calibri"/>
              <a:cs typeface="Calibri"/>
              <a:sym typeface="Calibri"/>
            </a:endParaRPr>
          </a:p>
        </p:txBody>
      </p:sp>
      <p:sp>
        <p:nvSpPr>
          <p:cNvPr id="27" name="Google Shape;27;p3"/>
          <p:cNvSpPr/>
          <p:nvPr/>
        </p:nvSpPr>
        <p:spPr>
          <a:xfrm>
            <a:off x="6181344" y="5870448"/>
            <a:ext cx="2606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D8E0"/>
              </a:buClr>
              <a:buSzPts val="1300"/>
              <a:buFont typeface="Calibri"/>
              <a:buNone/>
            </a:pPr>
            <a:r>
              <a:rPr b="0" i="0" lang="en-US" sz="1300" u="none" cap="none" strike="noStrike">
                <a:solidFill>
                  <a:srgbClr val="BFD8E0"/>
                </a:solidFill>
                <a:latin typeface="Calibri"/>
                <a:ea typeface="Calibri"/>
                <a:cs typeface="Calibri"/>
                <a:sym typeface="Calibri"/>
              </a:rPr>
              <a:t>pro Person</a:t>
            </a:r>
            <a:endParaRPr b="0" i="0" sz="1300" u="none" cap="none" strike="noStrike">
              <a:solidFill>
                <a:schemeClr val="dk1"/>
              </a:solidFill>
              <a:latin typeface="Calibri"/>
              <a:ea typeface="Calibri"/>
              <a:cs typeface="Calibri"/>
              <a:sym typeface="Calibri"/>
            </a:endParaRPr>
          </a:p>
        </p:txBody>
      </p:sp>
      <p:sp>
        <p:nvSpPr>
          <p:cNvPr id="28" name="Google Shape;28;p3"/>
          <p:cNvSpPr/>
          <p:nvPr/>
        </p:nvSpPr>
        <p:spPr>
          <a:xfrm>
            <a:off x="8951976" y="5303520"/>
            <a:ext cx="2606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2800"/>
              <a:buFont typeface="Georgia"/>
              <a:buNone/>
            </a:pPr>
            <a:r>
              <a:rPr b="1" i="0" lang="en-US" sz="2800" u="none" cap="none" strike="noStrike">
                <a:solidFill>
                  <a:srgbClr val="E9B44C"/>
                </a:solidFill>
                <a:latin typeface="Georgia"/>
                <a:ea typeface="Georgia"/>
                <a:cs typeface="Georgia"/>
                <a:sym typeface="Georgia"/>
              </a:rPr>
              <a:t>2,5 Std.</a:t>
            </a:r>
            <a:endParaRPr b="0" i="0" sz="2800" u="none" cap="none" strike="noStrike">
              <a:solidFill>
                <a:schemeClr val="dk1"/>
              </a:solidFill>
              <a:latin typeface="Calibri"/>
              <a:ea typeface="Calibri"/>
              <a:cs typeface="Calibri"/>
              <a:sym typeface="Calibri"/>
            </a:endParaRPr>
          </a:p>
        </p:txBody>
      </p:sp>
      <p:sp>
        <p:nvSpPr>
          <p:cNvPr id="29" name="Google Shape;29;p3"/>
          <p:cNvSpPr/>
          <p:nvPr/>
        </p:nvSpPr>
        <p:spPr>
          <a:xfrm>
            <a:off x="8951976" y="5870448"/>
            <a:ext cx="2606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D8E0"/>
              </a:buClr>
              <a:buSzPts val="1300"/>
              <a:buFont typeface="Calibri"/>
              <a:buNone/>
            </a:pPr>
            <a:r>
              <a:rPr b="0" i="0" lang="en-US" sz="1300" u="none" cap="none" strike="noStrike">
                <a:solidFill>
                  <a:srgbClr val="BFD8E0"/>
                </a:solidFill>
                <a:latin typeface="Calibri"/>
                <a:ea typeface="Calibri"/>
                <a:cs typeface="Calibri"/>
                <a:sym typeface="Calibri"/>
              </a:rPr>
              <a:t>Direktflug</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 name="Shape 34"/>
        <p:cNvGrpSpPr/>
        <p:nvPr/>
      </p:nvGrpSpPr>
      <p:grpSpPr>
        <a:xfrm>
          <a:off x="0" y="0"/>
          <a:ext cx="0" cy="0"/>
          <a:chOff x="0" y="0"/>
          <a:chExt cx="0" cy="0"/>
        </a:xfrm>
      </p:grpSpPr>
      <p:sp>
        <p:nvSpPr>
          <p:cNvPr id="35" name="Google Shape;35;p4"/>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UNSERE IDEE</a:t>
            </a:r>
            <a:endParaRPr b="0" i="0" sz="1250" u="none" cap="none" strike="noStrike">
              <a:solidFill>
                <a:schemeClr val="dk1"/>
              </a:solidFill>
              <a:latin typeface="Calibri"/>
              <a:ea typeface="Calibri"/>
              <a:cs typeface="Calibri"/>
              <a:sym typeface="Calibri"/>
            </a:endParaRPr>
          </a:p>
        </p:txBody>
      </p:sp>
      <p:sp>
        <p:nvSpPr>
          <p:cNvPr id="36" name="Google Shape;36;p4"/>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Eine Fahrt, von der alle etwas haben</a:t>
            </a:r>
            <a:endParaRPr b="0" i="0" sz="3100" u="none" cap="none" strike="noStrike">
              <a:solidFill>
                <a:schemeClr val="dk1"/>
              </a:solidFill>
              <a:latin typeface="Calibri"/>
              <a:ea typeface="Calibri"/>
              <a:cs typeface="Calibri"/>
              <a:sym typeface="Calibri"/>
            </a:endParaRPr>
          </a:p>
        </p:txBody>
      </p:sp>
      <p:sp>
        <p:nvSpPr>
          <p:cNvPr id="37" name="Google Shape;37;p4"/>
          <p:cNvSpPr/>
          <p:nvPr/>
        </p:nvSpPr>
        <p:spPr>
          <a:xfrm>
            <a:off x="640080" y="1536192"/>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682"/>
              </a:buClr>
              <a:buSzPts val="1550"/>
              <a:buFont typeface="Calibri"/>
              <a:buNone/>
            </a:pPr>
            <a:r>
              <a:rPr b="0" i="0" lang="en-US" sz="1550" u="none" cap="none" strike="noStrike">
                <a:solidFill>
                  <a:srgbClr val="5B7682"/>
                </a:solidFill>
                <a:latin typeface="Calibri"/>
                <a:ea typeface="Calibri"/>
                <a:cs typeface="Calibri"/>
                <a:sym typeface="Calibri"/>
              </a:rPr>
              <a:t>Wir möchten nicht drei einzelne Ausflüge machen, sondern alle zusammen fahren. Das ist schöner und kostet pro Person weniger.</a:t>
            </a:r>
            <a:endParaRPr b="0" i="0" sz="1550" u="none" cap="none" strike="noStrike">
              <a:solidFill>
                <a:schemeClr val="dk1"/>
              </a:solidFill>
              <a:latin typeface="Calibri"/>
              <a:ea typeface="Calibri"/>
              <a:cs typeface="Calibri"/>
              <a:sym typeface="Calibri"/>
            </a:endParaRPr>
          </a:p>
        </p:txBody>
      </p:sp>
      <p:sp>
        <p:nvSpPr>
          <p:cNvPr id="38" name="Google Shape;38;p4"/>
          <p:cNvSpPr/>
          <p:nvPr/>
        </p:nvSpPr>
        <p:spPr>
          <a:xfrm>
            <a:off x="640080" y="2240280"/>
            <a:ext cx="3456432" cy="3886200"/>
          </a:xfrm>
          <a:prstGeom prst="roundRect">
            <a:avLst>
              <a:gd fmla="val 2646" name="adj"/>
            </a:avLst>
          </a:prstGeom>
          <a:solidFill>
            <a:srgbClr val="FFFFFF"/>
          </a:solidFill>
          <a:ln cap="flat" cmpd="sng" w="12700">
            <a:solidFill>
              <a:srgbClr val="DCE6E9"/>
            </a:solidFill>
            <a:prstDash val="solid"/>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640080" y="2240280"/>
            <a:ext cx="3456432" cy="146304"/>
          </a:xfrm>
          <a:prstGeom prst="rect">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1005840" y="2697480"/>
            <a:ext cx="868680" cy="868680"/>
          </a:xfrm>
          <a:prstGeom prst="ellipse">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4"/>
          <p:cNvPicPr preferRelativeResize="0"/>
          <p:nvPr/>
        </p:nvPicPr>
        <p:blipFill rotWithShape="1">
          <a:blip r:embed="rId3">
            <a:alphaModFix/>
          </a:blip>
          <a:srcRect b="0" l="0" r="0" t="0"/>
          <a:stretch/>
        </p:blipFill>
        <p:spPr>
          <a:xfrm>
            <a:off x="1223010" y="2914650"/>
            <a:ext cx="434340" cy="434340"/>
          </a:xfrm>
          <a:prstGeom prst="rect">
            <a:avLst/>
          </a:prstGeom>
          <a:noFill/>
          <a:ln>
            <a:noFill/>
          </a:ln>
        </p:spPr>
      </p:pic>
      <p:sp>
        <p:nvSpPr>
          <p:cNvPr id="42" name="Google Shape;42;p4"/>
          <p:cNvSpPr/>
          <p:nvPr/>
        </p:nvSpPr>
        <p:spPr>
          <a:xfrm>
            <a:off x="1005840" y="3721608"/>
            <a:ext cx="28163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800"/>
              <a:buFont typeface="Georgia"/>
              <a:buNone/>
            </a:pPr>
            <a:r>
              <a:rPr b="1" i="0" lang="en-US" sz="1800" u="none" cap="none" strike="noStrike">
                <a:solidFill>
                  <a:srgbClr val="0F2A38"/>
                </a:solidFill>
                <a:latin typeface="Georgia"/>
                <a:ea typeface="Georgia"/>
                <a:cs typeface="Georgia"/>
                <a:sym typeface="Georgia"/>
              </a:rPr>
              <a:t>Alle fahren zusammen</a:t>
            </a:r>
            <a:endParaRPr b="0" i="0" sz="1800" u="none" cap="none" strike="noStrike">
              <a:solidFill>
                <a:schemeClr val="dk1"/>
              </a:solidFill>
              <a:latin typeface="Calibri"/>
              <a:ea typeface="Calibri"/>
              <a:cs typeface="Calibri"/>
              <a:sym typeface="Calibri"/>
            </a:endParaRPr>
          </a:p>
        </p:txBody>
      </p:sp>
      <p:sp>
        <p:nvSpPr>
          <p:cNvPr id="43" name="Google Shape;43;p4"/>
          <p:cNvSpPr/>
          <p:nvPr/>
        </p:nvSpPr>
        <p:spPr>
          <a:xfrm>
            <a:off x="1005840" y="4389120"/>
            <a:ext cx="2724912" cy="14630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B7682"/>
              </a:buClr>
              <a:buSzPts val="1450"/>
              <a:buFont typeface="Calibri"/>
              <a:buNone/>
            </a:pPr>
            <a:r>
              <a:rPr b="0" i="0" lang="en-US" sz="1450" u="none" cap="none" strike="noStrike">
                <a:solidFill>
                  <a:srgbClr val="5B7682"/>
                </a:solidFill>
                <a:latin typeface="Calibri"/>
                <a:ea typeface="Calibri"/>
                <a:cs typeface="Calibri"/>
                <a:sym typeface="Calibri"/>
              </a:rPr>
              <a:t>Wir nehmen denselben Flug und wohnen im selben Haus. Weil wir eine so große Gruppe sind, wird es für jeden Einzelnen günstiger.</a:t>
            </a:r>
            <a:endParaRPr b="0" i="0" sz="1450" u="none" cap="none" strike="noStrike">
              <a:solidFill>
                <a:schemeClr val="dk1"/>
              </a:solidFill>
              <a:latin typeface="Calibri"/>
              <a:ea typeface="Calibri"/>
              <a:cs typeface="Calibri"/>
              <a:sym typeface="Calibri"/>
            </a:endParaRPr>
          </a:p>
        </p:txBody>
      </p:sp>
      <p:sp>
        <p:nvSpPr>
          <p:cNvPr id="44" name="Google Shape;44;p4"/>
          <p:cNvSpPr/>
          <p:nvPr/>
        </p:nvSpPr>
        <p:spPr>
          <a:xfrm>
            <a:off x="4370832" y="2240280"/>
            <a:ext cx="3456432" cy="3886200"/>
          </a:xfrm>
          <a:prstGeom prst="roundRect">
            <a:avLst>
              <a:gd fmla="val 2646" name="adj"/>
            </a:avLst>
          </a:prstGeom>
          <a:solidFill>
            <a:srgbClr val="FFFFFF"/>
          </a:solidFill>
          <a:ln cap="flat" cmpd="sng" w="12700">
            <a:solidFill>
              <a:srgbClr val="DCE6E9"/>
            </a:solidFill>
            <a:prstDash val="solid"/>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4370832" y="2240280"/>
            <a:ext cx="3456432" cy="146304"/>
          </a:xfrm>
          <a:prstGeom prst="rect">
            <a:avLst/>
          </a:prstGeom>
          <a:solidFill>
            <a:srgbClr val="0883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4736592" y="2697480"/>
            <a:ext cx="868680" cy="868680"/>
          </a:xfrm>
          <a:prstGeom prst="ellipse">
            <a:avLst/>
          </a:prstGeom>
          <a:solidFill>
            <a:srgbClr val="0883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 name="Google Shape;47;p4"/>
          <p:cNvPicPr preferRelativeResize="0"/>
          <p:nvPr/>
        </p:nvPicPr>
        <p:blipFill rotWithShape="1">
          <a:blip r:embed="rId4">
            <a:alphaModFix/>
          </a:blip>
          <a:srcRect b="0" l="0" r="0" t="0"/>
          <a:stretch/>
        </p:blipFill>
        <p:spPr>
          <a:xfrm>
            <a:off x="4953762" y="2914650"/>
            <a:ext cx="434340" cy="434340"/>
          </a:xfrm>
          <a:prstGeom prst="rect">
            <a:avLst/>
          </a:prstGeom>
          <a:noFill/>
          <a:ln>
            <a:noFill/>
          </a:ln>
        </p:spPr>
      </p:pic>
      <p:sp>
        <p:nvSpPr>
          <p:cNvPr id="48" name="Google Shape;48;p4"/>
          <p:cNvSpPr/>
          <p:nvPr/>
        </p:nvSpPr>
        <p:spPr>
          <a:xfrm>
            <a:off x="4736592" y="3721608"/>
            <a:ext cx="28163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800"/>
              <a:buFont typeface="Georgia"/>
              <a:buNone/>
            </a:pPr>
            <a:r>
              <a:rPr b="1" i="0" lang="en-US" sz="1800" u="none" cap="none" strike="noStrike">
                <a:solidFill>
                  <a:srgbClr val="0F2A38"/>
                </a:solidFill>
                <a:latin typeface="Georgia"/>
                <a:ea typeface="Georgia"/>
                <a:cs typeface="Georgia"/>
                <a:sym typeface="Georgia"/>
              </a:rPr>
              <a:t>Jeder Kurs lernt etwas</a:t>
            </a:r>
            <a:endParaRPr b="0" i="0" sz="1800" u="none" cap="none" strike="noStrike">
              <a:solidFill>
                <a:schemeClr val="dk1"/>
              </a:solidFill>
              <a:latin typeface="Calibri"/>
              <a:ea typeface="Calibri"/>
              <a:cs typeface="Calibri"/>
              <a:sym typeface="Calibri"/>
            </a:endParaRPr>
          </a:p>
        </p:txBody>
      </p:sp>
      <p:sp>
        <p:nvSpPr>
          <p:cNvPr id="49" name="Google Shape;49;p4"/>
          <p:cNvSpPr/>
          <p:nvPr/>
        </p:nvSpPr>
        <p:spPr>
          <a:xfrm>
            <a:off x="4736592" y="4389120"/>
            <a:ext cx="2724912" cy="14630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B7682"/>
              </a:buClr>
              <a:buSzPts val="1450"/>
              <a:buFont typeface="Calibri"/>
              <a:buNone/>
            </a:pPr>
            <a:r>
              <a:rPr b="0" i="0" lang="en-US" sz="1450" u="none" cap="none" strike="noStrike">
                <a:solidFill>
                  <a:srgbClr val="5B7682"/>
                </a:solidFill>
                <a:latin typeface="Calibri"/>
                <a:ea typeface="Calibri"/>
                <a:cs typeface="Calibri"/>
                <a:sym typeface="Calibri"/>
              </a:rPr>
              <a:t>Im Spanischkurs können wir die Sprache wirklich benutzen. Der Lateinkurs schaut sich eine echte römische Stadt an. Und alle sehen die Insel.</a:t>
            </a:r>
            <a:endParaRPr b="0" i="0" sz="1450" u="none" cap="none" strike="noStrike">
              <a:solidFill>
                <a:schemeClr val="dk1"/>
              </a:solidFill>
              <a:latin typeface="Calibri"/>
              <a:ea typeface="Calibri"/>
              <a:cs typeface="Calibri"/>
              <a:sym typeface="Calibri"/>
            </a:endParaRPr>
          </a:p>
        </p:txBody>
      </p:sp>
      <p:sp>
        <p:nvSpPr>
          <p:cNvPr id="50" name="Google Shape;50;p4"/>
          <p:cNvSpPr/>
          <p:nvPr/>
        </p:nvSpPr>
        <p:spPr>
          <a:xfrm>
            <a:off x="8101584" y="2240280"/>
            <a:ext cx="3456432" cy="3886200"/>
          </a:xfrm>
          <a:prstGeom prst="roundRect">
            <a:avLst>
              <a:gd fmla="val 2646" name="adj"/>
            </a:avLst>
          </a:prstGeom>
          <a:solidFill>
            <a:srgbClr val="FFFFFF"/>
          </a:solidFill>
          <a:ln cap="flat" cmpd="sng" w="12700">
            <a:solidFill>
              <a:srgbClr val="DCE6E9"/>
            </a:solidFill>
            <a:prstDash val="solid"/>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8101584" y="2240280"/>
            <a:ext cx="3456432" cy="146304"/>
          </a:xfrm>
          <a:prstGeom prst="rect">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8467344" y="2697480"/>
            <a:ext cx="868680" cy="868680"/>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 name="Google Shape;53;p4"/>
          <p:cNvPicPr preferRelativeResize="0"/>
          <p:nvPr/>
        </p:nvPicPr>
        <p:blipFill rotWithShape="1">
          <a:blip r:embed="rId5">
            <a:alphaModFix/>
          </a:blip>
          <a:srcRect b="0" l="0" r="0" t="0"/>
          <a:stretch/>
        </p:blipFill>
        <p:spPr>
          <a:xfrm>
            <a:off x="8684514" y="2914650"/>
            <a:ext cx="434340" cy="434340"/>
          </a:xfrm>
          <a:prstGeom prst="rect">
            <a:avLst/>
          </a:prstGeom>
          <a:noFill/>
          <a:ln>
            <a:noFill/>
          </a:ln>
        </p:spPr>
      </p:pic>
      <p:sp>
        <p:nvSpPr>
          <p:cNvPr id="54" name="Google Shape;54;p4"/>
          <p:cNvSpPr/>
          <p:nvPr/>
        </p:nvSpPr>
        <p:spPr>
          <a:xfrm>
            <a:off x="8467344" y="3721608"/>
            <a:ext cx="28163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800"/>
              <a:buFont typeface="Georgia"/>
              <a:buNone/>
            </a:pPr>
            <a:r>
              <a:rPr b="1" i="0" lang="en-US" sz="1800" u="none" cap="none" strike="noStrike">
                <a:solidFill>
                  <a:srgbClr val="0F2A38"/>
                </a:solidFill>
                <a:latin typeface="Georgia"/>
                <a:ea typeface="Georgia"/>
                <a:cs typeface="Georgia"/>
                <a:sym typeface="Georgia"/>
              </a:rPr>
              <a:t>Wir kommen uns näher</a:t>
            </a:r>
            <a:endParaRPr b="0" i="0" sz="1800" u="none" cap="none" strike="noStrike">
              <a:solidFill>
                <a:schemeClr val="dk1"/>
              </a:solidFill>
              <a:latin typeface="Calibri"/>
              <a:ea typeface="Calibri"/>
              <a:cs typeface="Calibri"/>
              <a:sym typeface="Calibri"/>
            </a:endParaRPr>
          </a:p>
        </p:txBody>
      </p:sp>
      <p:sp>
        <p:nvSpPr>
          <p:cNvPr id="55" name="Google Shape;55;p4"/>
          <p:cNvSpPr/>
          <p:nvPr/>
        </p:nvSpPr>
        <p:spPr>
          <a:xfrm>
            <a:off x="8467344" y="4389120"/>
            <a:ext cx="2724912" cy="14630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B7682"/>
              </a:buClr>
              <a:buSzPts val="1450"/>
              <a:buFont typeface="Calibri"/>
              <a:buNone/>
            </a:pPr>
            <a:r>
              <a:rPr b="0" i="0" lang="en-US" sz="1450" u="none" cap="none" strike="noStrike">
                <a:solidFill>
                  <a:srgbClr val="5B7682"/>
                </a:solidFill>
                <a:latin typeface="Calibri"/>
                <a:ea typeface="Calibri"/>
                <a:cs typeface="Calibri"/>
                <a:sym typeface="Calibri"/>
              </a:rPr>
              <a:t>Fünf Tage zusammen machen einfach Spaß. Schüler aus verschiedenen Klassen und Kursen lernen sich so endlich besser kennen.</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sp>
        <p:nvSpPr>
          <p:cNvPr id="61" name="Google Shape;61;p5"/>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WARUM GERADE PALMA</a:t>
            </a:r>
            <a:endParaRPr b="0" i="0" sz="1250" u="none" cap="none" strike="noStrike">
              <a:solidFill>
                <a:schemeClr val="dk1"/>
              </a:solidFill>
              <a:latin typeface="Calibri"/>
              <a:ea typeface="Calibri"/>
              <a:cs typeface="Calibri"/>
              <a:sym typeface="Calibri"/>
            </a:endParaRPr>
          </a:p>
        </p:txBody>
      </p:sp>
      <p:sp>
        <p:nvSpPr>
          <p:cNvPr id="62" name="Google Shape;62;p5"/>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Warum Palma gut zu uns passt</a:t>
            </a:r>
            <a:endParaRPr b="0" i="0" sz="3100" u="none" cap="none" strike="noStrike">
              <a:solidFill>
                <a:schemeClr val="dk1"/>
              </a:solidFill>
              <a:latin typeface="Calibri"/>
              <a:ea typeface="Calibri"/>
              <a:cs typeface="Calibri"/>
              <a:sym typeface="Calibri"/>
            </a:endParaRPr>
          </a:p>
        </p:txBody>
      </p:sp>
      <p:sp>
        <p:nvSpPr>
          <p:cNvPr id="63" name="Google Shape;63;p5"/>
          <p:cNvSpPr/>
          <p:nvPr/>
        </p:nvSpPr>
        <p:spPr>
          <a:xfrm>
            <a:off x="640080" y="1783080"/>
            <a:ext cx="5349240" cy="1920240"/>
          </a:xfrm>
          <a:prstGeom prst="roundRect">
            <a:avLst>
              <a:gd fmla="val 3810"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1005840" y="2258568"/>
            <a:ext cx="868680" cy="868680"/>
          </a:xfrm>
          <a:prstGeom prst="ellipse">
            <a:avLst/>
          </a:prstGeom>
          <a:solidFill>
            <a:srgbClr val="0883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 name="Google Shape;65;p5"/>
          <p:cNvPicPr preferRelativeResize="0"/>
          <p:nvPr/>
        </p:nvPicPr>
        <p:blipFill rotWithShape="1">
          <a:blip r:embed="rId3">
            <a:alphaModFix/>
          </a:blip>
          <a:srcRect b="0" l="0" r="0" t="0"/>
          <a:stretch/>
        </p:blipFill>
        <p:spPr>
          <a:xfrm>
            <a:off x="1223010" y="2475738"/>
            <a:ext cx="434340" cy="434340"/>
          </a:xfrm>
          <a:prstGeom prst="rect">
            <a:avLst/>
          </a:prstGeom>
          <a:noFill/>
          <a:ln>
            <a:noFill/>
          </a:ln>
        </p:spPr>
      </p:pic>
      <p:sp>
        <p:nvSpPr>
          <p:cNvPr id="66" name="Google Shape;66;p5"/>
          <p:cNvSpPr/>
          <p:nvPr/>
        </p:nvSpPr>
        <p:spPr>
          <a:xfrm>
            <a:off x="2103120" y="2167128"/>
            <a:ext cx="3611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800"/>
              <a:buFont typeface="Georgia"/>
              <a:buNone/>
            </a:pPr>
            <a:r>
              <a:rPr b="1" i="0" lang="en-US" sz="1800" u="none" cap="none" strike="noStrike">
                <a:solidFill>
                  <a:srgbClr val="0F2A38"/>
                </a:solidFill>
                <a:latin typeface="Georgia"/>
                <a:ea typeface="Georgia"/>
                <a:cs typeface="Georgia"/>
                <a:sym typeface="Georgia"/>
              </a:rPr>
              <a:t>Spanisch sprechen</a:t>
            </a:r>
            <a:endParaRPr b="0" i="0" sz="1800" u="none" cap="none" strike="noStrike">
              <a:solidFill>
                <a:schemeClr val="dk1"/>
              </a:solidFill>
              <a:latin typeface="Calibri"/>
              <a:ea typeface="Calibri"/>
              <a:cs typeface="Calibri"/>
              <a:sym typeface="Calibri"/>
            </a:endParaRPr>
          </a:p>
        </p:txBody>
      </p:sp>
      <p:sp>
        <p:nvSpPr>
          <p:cNvPr id="67" name="Google Shape;67;p5"/>
          <p:cNvSpPr/>
          <p:nvPr/>
        </p:nvSpPr>
        <p:spPr>
          <a:xfrm>
            <a:off x="2103120" y="2624328"/>
            <a:ext cx="3611880" cy="9601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B7682"/>
              </a:buClr>
              <a:buSzPts val="1400"/>
              <a:buFont typeface="Calibri"/>
              <a:buNone/>
            </a:pPr>
            <a:r>
              <a:rPr b="0" i="0" lang="en-US" sz="1400" u="none" cap="none" strike="noStrike">
                <a:solidFill>
                  <a:srgbClr val="5B7682"/>
                </a:solidFill>
                <a:latin typeface="Calibri"/>
                <a:ea typeface="Calibri"/>
                <a:cs typeface="Calibri"/>
                <a:sym typeface="Calibri"/>
              </a:rPr>
              <a:t>Auf dem Markt, im Café und in Geschäften können wir Spanisch ausprobieren, statt nur im Buch zu lesen.</a:t>
            </a:r>
            <a:endParaRPr b="0" i="0" sz="1400" u="none" cap="none" strike="noStrike">
              <a:solidFill>
                <a:schemeClr val="dk1"/>
              </a:solidFill>
              <a:latin typeface="Calibri"/>
              <a:ea typeface="Calibri"/>
              <a:cs typeface="Calibri"/>
              <a:sym typeface="Calibri"/>
            </a:endParaRPr>
          </a:p>
        </p:txBody>
      </p:sp>
      <p:sp>
        <p:nvSpPr>
          <p:cNvPr id="68" name="Google Shape;68;p5"/>
          <p:cNvSpPr/>
          <p:nvPr/>
        </p:nvSpPr>
        <p:spPr>
          <a:xfrm>
            <a:off x="6291072" y="1783080"/>
            <a:ext cx="5349240" cy="1920240"/>
          </a:xfrm>
          <a:prstGeom prst="roundRect">
            <a:avLst>
              <a:gd fmla="val 3810"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6656832" y="2258568"/>
            <a:ext cx="868680" cy="868680"/>
          </a:xfrm>
          <a:prstGeom prst="ellipse">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0" name="Google Shape;70;p5"/>
          <p:cNvPicPr preferRelativeResize="0"/>
          <p:nvPr/>
        </p:nvPicPr>
        <p:blipFill rotWithShape="1">
          <a:blip r:embed="rId4">
            <a:alphaModFix/>
          </a:blip>
          <a:srcRect b="0" l="0" r="0" t="0"/>
          <a:stretch/>
        </p:blipFill>
        <p:spPr>
          <a:xfrm>
            <a:off x="6874002" y="2475738"/>
            <a:ext cx="434340" cy="434340"/>
          </a:xfrm>
          <a:prstGeom prst="rect">
            <a:avLst/>
          </a:prstGeom>
          <a:noFill/>
          <a:ln>
            <a:noFill/>
          </a:ln>
        </p:spPr>
      </p:pic>
      <p:sp>
        <p:nvSpPr>
          <p:cNvPr id="71" name="Google Shape;71;p5"/>
          <p:cNvSpPr/>
          <p:nvPr/>
        </p:nvSpPr>
        <p:spPr>
          <a:xfrm>
            <a:off x="7754112" y="2167128"/>
            <a:ext cx="3611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800"/>
              <a:buFont typeface="Georgia"/>
              <a:buNone/>
            </a:pPr>
            <a:r>
              <a:rPr b="1" i="0" lang="en-US" sz="1800" u="none" cap="none" strike="noStrike">
                <a:solidFill>
                  <a:srgbClr val="0F2A38"/>
                </a:solidFill>
                <a:latin typeface="Georgia"/>
                <a:ea typeface="Georgia"/>
                <a:cs typeface="Georgia"/>
                <a:sym typeface="Georgia"/>
              </a:rPr>
              <a:t>Viel zu sehen</a:t>
            </a:r>
            <a:endParaRPr b="0" i="0" sz="1800" u="none" cap="none" strike="noStrike">
              <a:solidFill>
                <a:schemeClr val="dk1"/>
              </a:solidFill>
              <a:latin typeface="Calibri"/>
              <a:ea typeface="Calibri"/>
              <a:cs typeface="Calibri"/>
              <a:sym typeface="Calibri"/>
            </a:endParaRPr>
          </a:p>
        </p:txBody>
      </p:sp>
      <p:sp>
        <p:nvSpPr>
          <p:cNvPr id="72" name="Google Shape;72;p5"/>
          <p:cNvSpPr/>
          <p:nvPr/>
        </p:nvSpPr>
        <p:spPr>
          <a:xfrm>
            <a:off x="7754112" y="2624328"/>
            <a:ext cx="3611880" cy="9601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B7682"/>
              </a:buClr>
              <a:buSzPts val="1400"/>
              <a:buFont typeface="Calibri"/>
              <a:buNone/>
            </a:pPr>
            <a:r>
              <a:rPr b="0" i="0" lang="en-US" sz="1400" u="none" cap="none" strike="noStrike">
                <a:solidFill>
                  <a:srgbClr val="5B7682"/>
                </a:solidFill>
                <a:latin typeface="Calibri"/>
                <a:ea typeface="Calibri"/>
                <a:cs typeface="Calibri"/>
                <a:sym typeface="Calibri"/>
              </a:rPr>
              <a:t>Die große Kathedrale, die alten Gassen, eine Burg über der Stadt und das Museum von Joan Miró.</a:t>
            </a:r>
            <a:endParaRPr b="0" i="0" sz="1400" u="none" cap="none" strike="noStrike">
              <a:solidFill>
                <a:schemeClr val="dk1"/>
              </a:solidFill>
              <a:latin typeface="Calibri"/>
              <a:ea typeface="Calibri"/>
              <a:cs typeface="Calibri"/>
              <a:sym typeface="Calibri"/>
            </a:endParaRPr>
          </a:p>
        </p:txBody>
      </p:sp>
      <p:sp>
        <p:nvSpPr>
          <p:cNvPr id="73" name="Google Shape;73;p5"/>
          <p:cNvSpPr/>
          <p:nvPr/>
        </p:nvSpPr>
        <p:spPr>
          <a:xfrm>
            <a:off x="640080" y="3995928"/>
            <a:ext cx="5349240" cy="1920240"/>
          </a:xfrm>
          <a:prstGeom prst="roundRect">
            <a:avLst>
              <a:gd fmla="val 3810"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1005840" y="4471416"/>
            <a:ext cx="868680" cy="868680"/>
          </a:xfrm>
          <a:prstGeom prst="ellipse">
            <a:avLst/>
          </a:prstGeom>
          <a:solidFill>
            <a:srgbClr val="C049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5" name="Google Shape;75;p5"/>
          <p:cNvPicPr preferRelativeResize="0"/>
          <p:nvPr/>
        </p:nvPicPr>
        <p:blipFill rotWithShape="1">
          <a:blip r:embed="rId5">
            <a:alphaModFix/>
          </a:blip>
          <a:srcRect b="0" l="0" r="0" t="0"/>
          <a:stretch/>
        </p:blipFill>
        <p:spPr>
          <a:xfrm>
            <a:off x="1223010" y="4688586"/>
            <a:ext cx="434340" cy="434340"/>
          </a:xfrm>
          <a:prstGeom prst="rect">
            <a:avLst/>
          </a:prstGeom>
          <a:noFill/>
          <a:ln>
            <a:noFill/>
          </a:ln>
        </p:spPr>
      </p:pic>
      <p:sp>
        <p:nvSpPr>
          <p:cNvPr id="76" name="Google Shape;76;p5"/>
          <p:cNvSpPr/>
          <p:nvPr/>
        </p:nvSpPr>
        <p:spPr>
          <a:xfrm>
            <a:off x="2103120" y="4379976"/>
            <a:ext cx="3611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800"/>
              <a:buFont typeface="Georgia"/>
              <a:buNone/>
            </a:pPr>
            <a:r>
              <a:rPr b="1" i="0" lang="en-US" sz="1800" u="none" cap="none" strike="noStrike">
                <a:solidFill>
                  <a:srgbClr val="0F2A38"/>
                </a:solidFill>
                <a:latin typeface="Georgia"/>
                <a:ea typeface="Georgia"/>
                <a:cs typeface="Georgia"/>
                <a:sym typeface="Georgia"/>
              </a:rPr>
              <a:t>Römer zum Anschauen</a:t>
            </a:r>
            <a:endParaRPr b="0" i="0" sz="1800" u="none" cap="none" strike="noStrike">
              <a:solidFill>
                <a:schemeClr val="dk1"/>
              </a:solidFill>
              <a:latin typeface="Calibri"/>
              <a:ea typeface="Calibri"/>
              <a:cs typeface="Calibri"/>
              <a:sym typeface="Calibri"/>
            </a:endParaRPr>
          </a:p>
        </p:txBody>
      </p:sp>
      <p:sp>
        <p:nvSpPr>
          <p:cNvPr id="77" name="Google Shape;77;p5"/>
          <p:cNvSpPr/>
          <p:nvPr/>
        </p:nvSpPr>
        <p:spPr>
          <a:xfrm>
            <a:off x="2103120" y="4837176"/>
            <a:ext cx="3611880" cy="9601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B7682"/>
              </a:buClr>
              <a:buSzPts val="1400"/>
              <a:buFont typeface="Calibri"/>
              <a:buNone/>
            </a:pPr>
            <a:r>
              <a:rPr b="0" i="0" lang="en-US" sz="1400" u="none" cap="none" strike="noStrike">
                <a:solidFill>
                  <a:srgbClr val="5B7682"/>
                </a:solidFill>
                <a:latin typeface="Calibri"/>
                <a:ea typeface="Calibri"/>
                <a:cs typeface="Calibri"/>
                <a:sym typeface="Calibri"/>
              </a:rPr>
              <a:t>In Pollentia steht eine echte römische Stadt, die sich der Lateinkurs in Ruhe ansehen kann.</a:t>
            </a:r>
            <a:endParaRPr b="0" i="0" sz="1400" u="none" cap="none" strike="noStrike">
              <a:solidFill>
                <a:schemeClr val="dk1"/>
              </a:solidFill>
              <a:latin typeface="Calibri"/>
              <a:ea typeface="Calibri"/>
              <a:cs typeface="Calibri"/>
              <a:sym typeface="Calibri"/>
            </a:endParaRPr>
          </a:p>
        </p:txBody>
      </p:sp>
      <p:sp>
        <p:nvSpPr>
          <p:cNvPr id="78" name="Google Shape;78;p5"/>
          <p:cNvSpPr/>
          <p:nvPr/>
        </p:nvSpPr>
        <p:spPr>
          <a:xfrm>
            <a:off x="6291072" y="3995928"/>
            <a:ext cx="5349240" cy="1920240"/>
          </a:xfrm>
          <a:prstGeom prst="roundRect">
            <a:avLst>
              <a:gd fmla="val 3810"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6656832" y="4471416"/>
            <a:ext cx="868680" cy="868680"/>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0" name="Google Shape;80;p5"/>
          <p:cNvPicPr preferRelativeResize="0"/>
          <p:nvPr/>
        </p:nvPicPr>
        <p:blipFill rotWithShape="1">
          <a:blip r:embed="rId6">
            <a:alphaModFix/>
          </a:blip>
          <a:srcRect b="0" l="0" r="0" t="0"/>
          <a:stretch/>
        </p:blipFill>
        <p:spPr>
          <a:xfrm>
            <a:off x="6874002" y="4688586"/>
            <a:ext cx="434340" cy="434340"/>
          </a:xfrm>
          <a:prstGeom prst="rect">
            <a:avLst/>
          </a:prstGeom>
          <a:noFill/>
          <a:ln>
            <a:noFill/>
          </a:ln>
        </p:spPr>
      </p:pic>
      <p:sp>
        <p:nvSpPr>
          <p:cNvPr id="81" name="Google Shape;81;p5"/>
          <p:cNvSpPr/>
          <p:nvPr/>
        </p:nvSpPr>
        <p:spPr>
          <a:xfrm>
            <a:off x="7754112" y="4379976"/>
            <a:ext cx="3611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800"/>
              <a:buFont typeface="Georgia"/>
              <a:buNone/>
            </a:pPr>
            <a:r>
              <a:rPr b="1" i="0" lang="en-US" sz="1800" u="none" cap="none" strike="noStrike">
                <a:solidFill>
                  <a:srgbClr val="0F2A38"/>
                </a:solidFill>
                <a:latin typeface="Georgia"/>
                <a:ea typeface="Georgia"/>
                <a:cs typeface="Georgia"/>
                <a:sym typeface="Georgia"/>
              </a:rPr>
              <a:t>Schnell zu erreichen</a:t>
            </a:r>
            <a:endParaRPr b="0" i="0" sz="1800" u="none" cap="none" strike="noStrike">
              <a:solidFill>
                <a:schemeClr val="dk1"/>
              </a:solidFill>
              <a:latin typeface="Calibri"/>
              <a:ea typeface="Calibri"/>
              <a:cs typeface="Calibri"/>
              <a:sym typeface="Calibri"/>
            </a:endParaRPr>
          </a:p>
        </p:txBody>
      </p:sp>
      <p:sp>
        <p:nvSpPr>
          <p:cNvPr id="82" name="Google Shape;82;p5"/>
          <p:cNvSpPr/>
          <p:nvPr/>
        </p:nvSpPr>
        <p:spPr>
          <a:xfrm>
            <a:off x="7754112" y="4837176"/>
            <a:ext cx="3611880" cy="9601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B7682"/>
              </a:buClr>
              <a:buSzPts val="1400"/>
              <a:buFont typeface="Calibri"/>
              <a:buNone/>
            </a:pPr>
            <a:r>
              <a:rPr b="0" i="0" lang="en-US" sz="1400" u="none" cap="none" strike="noStrike">
                <a:solidFill>
                  <a:srgbClr val="5B7682"/>
                </a:solidFill>
                <a:latin typeface="Calibri"/>
                <a:ea typeface="Calibri"/>
                <a:cs typeface="Calibri"/>
                <a:sym typeface="Calibri"/>
              </a:rPr>
              <a:t>Von Münster/Osnabrück fliegen wir ohne Umsteigen in etwa zweieinhalb Stunden hin.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6"/>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8395"/>
              </a:buClr>
              <a:buSzPts val="1250"/>
              <a:buFont typeface="Calibri"/>
              <a:buNone/>
            </a:pPr>
            <a:r>
              <a:rPr b="1" i="0" lang="en-US" sz="1250" u="none" cap="none" strike="noStrike">
                <a:solidFill>
                  <a:srgbClr val="088395"/>
                </a:solidFill>
                <a:latin typeface="Calibri"/>
                <a:ea typeface="Calibri"/>
                <a:cs typeface="Calibri"/>
                <a:sym typeface="Calibri"/>
              </a:rPr>
              <a:t>FÜR DEN SPANISCHKURS</a:t>
            </a:r>
            <a:endParaRPr b="0" i="0" sz="1250" u="none" cap="none" strike="noStrike">
              <a:solidFill>
                <a:schemeClr val="dk1"/>
              </a:solidFill>
              <a:latin typeface="Calibri"/>
              <a:ea typeface="Calibri"/>
              <a:cs typeface="Calibri"/>
              <a:sym typeface="Calibri"/>
            </a:endParaRPr>
          </a:p>
        </p:txBody>
      </p:sp>
      <p:sp>
        <p:nvSpPr>
          <p:cNvPr id="89" name="Google Shape;89;p6"/>
          <p:cNvSpPr/>
          <p:nvPr/>
        </p:nvSpPr>
        <p:spPr>
          <a:xfrm>
            <a:off x="640080" y="822960"/>
            <a:ext cx="6400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Spanisch, das wir wirklich benutzen</a:t>
            </a:r>
            <a:endParaRPr b="0" i="0" sz="3100" u="none" cap="none" strike="noStrike">
              <a:solidFill>
                <a:schemeClr val="dk1"/>
              </a:solidFill>
              <a:latin typeface="Calibri"/>
              <a:ea typeface="Calibri"/>
              <a:cs typeface="Calibri"/>
              <a:sym typeface="Calibri"/>
            </a:endParaRPr>
          </a:p>
        </p:txBody>
      </p:sp>
      <p:sp>
        <p:nvSpPr>
          <p:cNvPr id="90" name="Google Shape;90;p6"/>
          <p:cNvSpPr/>
          <p:nvPr/>
        </p:nvSpPr>
        <p:spPr>
          <a:xfrm>
            <a:off x="640080" y="1691640"/>
            <a:ext cx="6126480" cy="685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88395"/>
              </a:buClr>
              <a:buSzPts val="1600"/>
              <a:buFont typeface="Calibri"/>
              <a:buNone/>
            </a:pPr>
            <a:r>
              <a:rPr b="0" i="1" lang="en-US" sz="1600" u="none" cap="none" strike="noStrike">
                <a:solidFill>
                  <a:srgbClr val="088395"/>
                </a:solidFill>
                <a:latin typeface="Calibri"/>
                <a:ea typeface="Calibri"/>
                <a:cs typeface="Calibri"/>
                <a:sym typeface="Calibri"/>
              </a:rPr>
              <a:t>Im Unterricht lernen wir viele Wörter. In Palma können wir sie endlich im echten Leben ausprobieren.</a:t>
            </a:r>
            <a:endParaRPr b="0" i="0" sz="1600" u="none" cap="none" strike="noStrike">
              <a:solidFill>
                <a:schemeClr val="dk1"/>
              </a:solidFill>
              <a:latin typeface="Calibri"/>
              <a:ea typeface="Calibri"/>
              <a:cs typeface="Calibri"/>
              <a:sym typeface="Calibri"/>
            </a:endParaRPr>
          </a:p>
        </p:txBody>
      </p:sp>
      <p:sp>
        <p:nvSpPr>
          <p:cNvPr id="91" name="Google Shape;91;p6"/>
          <p:cNvSpPr/>
          <p:nvPr/>
        </p:nvSpPr>
        <p:spPr>
          <a:xfrm>
            <a:off x="640080" y="2514600"/>
            <a:ext cx="6126480" cy="3657600"/>
          </a:xfrm>
          <a:prstGeom prst="rect">
            <a:avLst/>
          </a:prstGeom>
          <a:noFill/>
          <a:ln>
            <a:noFill/>
          </a:ln>
        </p:spPr>
        <p:txBody>
          <a:bodyPr anchorCtr="0" anchor="t" bIns="45700" lIns="91425" spcFirstLastPara="1" rIns="91425" wrap="square" tIns="45700">
            <a:noAutofit/>
          </a:bodyPr>
          <a:lstStyle/>
          <a:p>
            <a:pPr indent="-254000" lvl="0" marL="254000" marR="0" rtl="0" algn="l">
              <a:lnSpc>
                <a:spcPct val="105000"/>
              </a:lnSpc>
              <a:spcBef>
                <a:spcPts val="0"/>
              </a:spcBef>
              <a:spcAft>
                <a:spcPts val="0"/>
              </a:spcAft>
              <a:buClr>
                <a:srgbClr val="0F2A38"/>
              </a:buClr>
              <a:buSzPts val="1700"/>
              <a:buFont typeface="Calibri"/>
              <a:buChar char="•"/>
            </a:pPr>
            <a:r>
              <a:rPr b="0" i="0" lang="en-US" sz="1700" u="none" cap="none" strike="noStrike">
                <a:solidFill>
                  <a:srgbClr val="0F2A38"/>
                </a:solidFill>
                <a:latin typeface="Calibri"/>
                <a:ea typeface="Calibri"/>
                <a:cs typeface="Calibri"/>
                <a:sym typeface="Calibri"/>
              </a:rPr>
              <a:t>Auf dem Markt Mercat de l'Olivar einkaufen und dabei auf Spanisch fragen und bezahlen.</a:t>
            </a:r>
            <a:endParaRPr b="0" i="0" sz="1700" u="none" cap="none" strike="noStrike">
              <a:solidFill>
                <a:schemeClr val="dk1"/>
              </a:solidFill>
              <a:latin typeface="Calibri"/>
              <a:ea typeface="Calibri"/>
              <a:cs typeface="Calibri"/>
              <a:sym typeface="Calibri"/>
            </a:endParaRPr>
          </a:p>
          <a:p>
            <a:pPr indent="-254000" lvl="0" marL="254000" marR="0" rtl="0" algn="l">
              <a:lnSpc>
                <a:spcPct val="105000"/>
              </a:lnSpc>
              <a:spcBef>
                <a:spcPts val="1400"/>
              </a:spcBef>
              <a:spcAft>
                <a:spcPts val="0"/>
              </a:spcAft>
              <a:buClr>
                <a:srgbClr val="0F2A38"/>
              </a:buClr>
              <a:buSzPts val="1700"/>
              <a:buFont typeface="Calibri"/>
              <a:buChar char="•"/>
            </a:pPr>
            <a:r>
              <a:rPr b="0" i="0" lang="en-US" sz="1700" u="none" cap="none" strike="noStrike">
                <a:solidFill>
                  <a:srgbClr val="0F2A38"/>
                </a:solidFill>
                <a:latin typeface="Calibri"/>
                <a:ea typeface="Calibri"/>
                <a:cs typeface="Calibri"/>
                <a:sym typeface="Calibri"/>
              </a:rPr>
              <a:t>Im Café und in einer Tapas-Bar selbst etwas auf Spanisch bestellen.</a:t>
            </a:r>
            <a:endParaRPr b="0" i="0" sz="1700" u="none" cap="none" strike="noStrike">
              <a:solidFill>
                <a:schemeClr val="dk1"/>
              </a:solidFill>
              <a:latin typeface="Calibri"/>
              <a:ea typeface="Calibri"/>
              <a:cs typeface="Calibri"/>
              <a:sym typeface="Calibri"/>
            </a:endParaRPr>
          </a:p>
          <a:p>
            <a:pPr indent="-254000" lvl="0" marL="254000" marR="0" rtl="0" algn="l">
              <a:lnSpc>
                <a:spcPct val="105000"/>
              </a:lnSpc>
              <a:spcBef>
                <a:spcPts val="1400"/>
              </a:spcBef>
              <a:spcAft>
                <a:spcPts val="0"/>
              </a:spcAft>
              <a:buClr>
                <a:srgbClr val="0F2A38"/>
              </a:buClr>
              <a:buSzPts val="1700"/>
              <a:buFont typeface="Calibri"/>
              <a:buChar char="•"/>
            </a:pPr>
            <a:r>
              <a:rPr b="0" i="0" lang="en-US" sz="1700" u="none" cap="none" strike="noStrike">
                <a:solidFill>
                  <a:srgbClr val="0F2A38"/>
                </a:solidFill>
                <a:latin typeface="Calibri"/>
                <a:ea typeface="Calibri"/>
                <a:cs typeface="Calibri"/>
                <a:sym typeface="Calibri"/>
              </a:rPr>
              <a:t>Ein kleines Stadtspiel in Gruppen, bei dem wir Leute auf Spanisch etwas fragen müssen.</a:t>
            </a:r>
            <a:endParaRPr b="0" i="0" sz="1700" u="none" cap="none" strike="noStrike">
              <a:solidFill>
                <a:schemeClr val="dk1"/>
              </a:solidFill>
              <a:latin typeface="Calibri"/>
              <a:ea typeface="Calibri"/>
              <a:cs typeface="Calibri"/>
              <a:sym typeface="Calibri"/>
            </a:endParaRPr>
          </a:p>
          <a:p>
            <a:pPr indent="-254000" lvl="0" marL="254000" marR="0" rtl="0" algn="l">
              <a:lnSpc>
                <a:spcPct val="105000"/>
              </a:lnSpc>
              <a:spcBef>
                <a:spcPts val="1400"/>
              </a:spcBef>
              <a:spcAft>
                <a:spcPts val="0"/>
              </a:spcAft>
              <a:buClr>
                <a:srgbClr val="0F2A38"/>
              </a:buClr>
              <a:buSzPts val="1700"/>
              <a:buFont typeface="Calibri"/>
              <a:buChar char="•"/>
            </a:pPr>
            <a:r>
              <a:rPr b="0" i="0" lang="en-US" sz="1700" u="none" cap="none" strike="noStrike">
                <a:solidFill>
                  <a:srgbClr val="0F2A38"/>
                </a:solidFill>
                <a:latin typeface="Calibri"/>
                <a:ea typeface="Calibri"/>
                <a:cs typeface="Calibri"/>
                <a:sym typeface="Calibri"/>
              </a:rPr>
              <a:t>So üben wir jeden Tag, fast ohne es zu merken.</a:t>
            </a:r>
            <a:endParaRPr b="0" i="0" sz="1700" u="none" cap="none" strike="noStrike">
              <a:solidFill>
                <a:schemeClr val="dk1"/>
              </a:solidFill>
              <a:latin typeface="Calibri"/>
              <a:ea typeface="Calibri"/>
              <a:cs typeface="Calibri"/>
              <a:sym typeface="Calibri"/>
            </a:endParaRPr>
          </a:p>
        </p:txBody>
      </p:sp>
      <p:pic>
        <p:nvPicPr>
          <p:cNvPr id="92" name="Picture 91" descr="tapas_cropped.jpg"/>
          <p:cNvPicPr>
            <a:picLocks noChangeAspect="1"/>
          </p:cNvPicPr>
          <p:nvPr/>
        </p:nvPicPr>
        <p:blipFill>
          <a:blip r:embed="rId4"/>
          <a:stretch>
            <a:fillRect/>
          </a:stretch>
        </p:blipFill>
        <p:spPr>
          <a:xfrm>
            <a:off x="7086600" y="1783080"/>
            <a:ext cx="4434840" cy="3749039"/>
          </a:xfrm>
          <a:prstGeom prst="rect">
            <a:avLst/>
          </a:prstGeom>
        </p:spPr>
      </p:pic>
      <p:sp>
        <p:nvSpPr>
          <p:cNvPr id="93" name="TextBox 92"/>
          <p:cNvSpPr txBox="1"/>
          <p:nvPr/>
        </p:nvSpPr>
        <p:spPr>
          <a:xfrm>
            <a:off x="7406640" y="5074920"/>
            <a:ext cx="3794760" cy="320040"/>
          </a:xfrm>
          <a:prstGeom prst="rect">
            <a:avLst/>
          </a:prstGeom>
          <a:noFill/>
        </p:spPr>
        <p:txBody>
          <a:bodyPr wrap="square">
            <a:spAutoFit/>
          </a:bodyPr>
          <a:lstStyle/>
          <a:p>
            <a:pPr algn="ctr">
              <a:defRPr sz="800">
                <a:solidFill>
                  <a:srgbClr val="666666"/>
                </a:solidFill>
              </a:defRPr>
            </a:pPr>
            <a:r>
              <a:t>Tapas in Palma</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7"/>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4D68"/>
              </a:buClr>
              <a:buSzPts val="1250"/>
              <a:buFont typeface="Calibri"/>
              <a:buNone/>
            </a:pPr>
            <a:r>
              <a:rPr b="1" i="0" lang="en-US" sz="1250" u="none" cap="none" strike="noStrike">
                <a:solidFill>
                  <a:srgbClr val="0A4D68"/>
                </a:solidFill>
                <a:latin typeface="Calibri"/>
                <a:ea typeface="Calibri"/>
                <a:cs typeface="Calibri"/>
                <a:sym typeface="Calibri"/>
              </a:rPr>
              <a:t>KULTUR UND GESCHICHTE</a:t>
            </a:r>
            <a:endParaRPr b="0" i="0" sz="1250" u="none" cap="none" strike="noStrike">
              <a:solidFill>
                <a:schemeClr val="dk1"/>
              </a:solidFill>
              <a:latin typeface="Calibri"/>
              <a:ea typeface="Calibri"/>
              <a:cs typeface="Calibri"/>
              <a:sym typeface="Calibri"/>
            </a:endParaRPr>
          </a:p>
        </p:txBody>
      </p:sp>
      <p:sp>
        <p:nvSpPr>
          <p:cNvPr id="102" name="Google Shape;102;p7"/>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Mitten in Palma gibt es viel zu sehen</a:t>
            </a:r>
            <a:endParaRPr b="0" i="0" sz="3100" u="none" cap="none" strike="noStrike">
              <a:solidFill>
                <a:schemeClr val="dk1"/>
              </a:solidFill>
              <a:latin typeface="Calibri"/>
              <a:ea typeface="Calibri"/>
              <a:cs typeface="Calibri"/>
              <a:sym typeface="Calibri"/>
            </a:endParaRPr>
          </a:p>
        </p:txBody>
      </p:sp>
      <p:sp>
        <p:nvSpPr>
          <p:cNvPr id="107" name="Google Shape;107;p7"/>
          <p:cNvSpPr/>
          <p:nvPr/>
        </p:nvSpPr>
        <p:spPr>
          <a:xfrm>
            <a:off x="5486400" y="1828800"/>
            <a:ext cx="749808" cy="749808"/>
          </a:xfrm>
          <a:prstGeom prst="ellipse">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 name="Google Shape;108;p7"/>
          <p:cNvPicPr preferRelativeResize="0"/>
          <p:nvPr/>
        </p:nvPicPr>
        <p:blipFill rotWithShape="1">
          <a:blip r:embed="rId4">
            <a:alphaModFix/>
          </a:blip>
          <a:srcRect b="0" l="0" r="0" t="0"/>
          <a:stretch/>
        </p:blipFill>
        <p:spPr>
          <a:xfrm>
            <a:off x="5673852" y="2016252"/>
            <a:ext cx="374904" cy="374904"/>
          </a:xfrm>
          <a:prstGeom prst="rect">
            <a:avLst/>
          </a:prstGeom>
          <a:noFill/>
          <a:ln>
            <a:noFill/>
          </a:ln>
        </p:spPr>
      </p:pic>
      <p:sp>
        <p:nvSpPr>
          <p:cNvPr id="109" name="Google Shape;109;p7"/>
          <p:cNvSpPr/>
          <p:nvPr/>
        </p:nvSpPr>
        <p:spPr>
          <a:xfrm>
            <a:off x="6446520" y="1773936"/>
            <a:ext cx="5074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750"/>
              <a:buFont typeface="Georgia"/>
              <a:buNone/>
            </a:pPr>
            <a:r>
              <a:rPr b="1" i="0" lang="en-US" sz="1750" u="none" cap="none" strike="noStrike">
                <a:solidFill>
                  <a:srgbClr val="0F2A38"/>
                </a:solidFill>
                <a:latin typeface="Georgia"/>
                <a:ea typeface="Georgia"/>
                <a:cs typeface="Georgia"/>
                <a:sym typeface="Georgia"/>
              </a:rPr>
              <a:t>Kathedrale La Seu</a:t>
            </a:r>
            <a:endParaRPr b="0" i="0" sz="1750" u="none" cap="none" strike="noStrike">
              <a:solidFill>
                <a:schemeClr val="dk1"/>
              </a:solidFill>
              <a:latin typeface="Calibri"/>
              <a:ea typeface="Calibri"/>
              <a:cs typeface="Calibri"/>
              <a:sym typeface="Calibri"/>
            </a:endParaRPr>
          </a:p>
        </p:txBody>
      </p:sp>
      <p:sp>
        <p:nvSpPr>
          <p:cNvPr id="110" name="Google Shape;110;p7"/>
          <p:cNvSpPr/>
          <p:nvPr/>
        </p:nvSpPr>
        <p:spPr>
          <a:xfrm>
            <a:off x="6446520" y="2176272"/>
            <a:ext cx="5074920"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7682"/>
              </a:buClr>
              <a:buSzPts val="1400"/>
              <a:buFont typeface="Calibri"/>
              <a:buNone/>
            </a:pPr>
            <a:r>
              <a:rPr b="0" i="0" lang="en-US" sz="1400" u="none" cap="none" strike="noStrike">
                <a:solidFill>
                  <a:srgbClr val="5B7682"/>
                </a:solidFill>
                <a:latin typeface="Calibri"/>
                <a:ea typeface="Calibri"/>
                <a:cs typeface="Calibri"/>
                <a:sym typeface="Calibri"/>
              </a:rPr>
              <a:t>Die große Kirche direkt am Wasser ist das Wahrzeichen der ganzen Stadt.</a:t>
            </a:r>
            <a:endParaRPr b="0" i="0" sz="1400" u="none" cap="none" strike="noStrike">
              <a:solidFill>
                <a:schemeClr val="dk1"/>
              </a:solidFill>
              <a:latin typeface="Calibri"/>
              <a:ea typeface="Calibri"/>
              <a:cs typeface="Calibri"/>
              <a:sym typeface="Calibri"/>
            </a:endParaRPr>
          </a:p>
        </p:txBody>
      </p:sp>
      <p:sp>
        <p:nvSpPr>
          <p:cNvPr id="111" name="Google Shape;111;p7"/>
          <p:cNvSpPr/>
          <p:nvPr/>
        </p:nvSpPr>
        <p:spPr>
          <a:xfrm>
            <a:off x="5486400" y="2889504"/>
            <a:ext cx="749808" cy="749808"/>
          </a:xfrm>
          <a:prstGeom prst="ellipse">
            <a:avLst/>
          </a:prstGeom>
          <a:solidFill>
            <a:srgbClr val="0883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2" name="Google Shape;112;p7"/>
          <p:cNvPicPr preferRelativeResize="0"/>
          <p:nvPr/>
        </p:nvPicPr>
        <p:blipFill rotWithShape="1">
          <a:blip r:embed="rId5">
            <a:alphaModFix/>
          </a:blip>
          <a:srcRect b="0" l="0" r="0" t="0"/>
          <a:stretch/>
        </p:blipFill>
        <p:spPr>
          <a:xfrm>
            <a:off x="5673852" y="3076956"/>
            <a:ext cx="374904" cy="374904"/>
          </a:xfrm>
          <a:prstGeom prst="rect">
            <a:avLst/>
          </a:prstGeom>
          <a:noFill/>
          <a:ln>
            <a:noFill/>
          </a:ln>
        </p:spPr>
      </p:pic>
      <p:sp>
        <p:nvSpPr>
          <p:cNvPr id="113" name="Google Shape;113;p7"/>
          <p:cNvSpPr/>
          <p:nvPr/>
        </p:nvSpPr>
        <p:spPr>
          <a:xfrm>
            <a:off x="6446520" y="2834640"/>
            <a:ext cx="5074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750"/>
              <a:buFont typeface="Georgia"/>
              <a:buNone/>
            </a:pPr>
            <a:r>
              <a:rPr b="1" i="0" lang="en-US" sz="1750" u="none" cap="none" strike="noStrike">
                <a:solidFill>
                  <a:srgbClr val="0F2A38"/>
                </a:solidFill>
                <a:latin typeface="Georgia"/>
                <a:ea typeface="Georgia"/>
                <a:cs typeface="Georgia"/>
                <a:sym typeface="Georgia"/>
              </a:rPr>
              <a:t>Die Altstadt</a:t>
            </a:r>
            <a:endParaRPr b="0" i="0" sz="1750" u="none" cap="none" strike="noStrike">
              <a:solidFill>
                <a:schemeClr val="dk1"/>
              </a:solidFill>
              <a:latin typeface="Calibri"/>
              <a:ea typeface="Calibri"/>
              <a:cs typeface="Calibri"/>
              <a:sym typeface="Calibri"/>
            </a:endParaRPr>
          </a:p>
        </p:txBody>
      </p:sp>
      <p:sp>
        <p:nvSpPr>
          <p:cNvPr id="114" name="Google Shape;114;p7"/>
          <p:cNvSpPr/>
          <p:nvPr/>
        </p:nvSpPr>
        <p:spPr>
          <a:xfrm>
            <a:off x="6446520" y="3236976"/>
            <a:ext cx="5074920"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7682"/>
              </a:buClr>
              <a:buSzPts val="1400"/>
              <a:buFont typeface="Calibri"/>
              <a:buNone/>
            </a:pPr>
            <a:r>
              <a:rPr b="0" i="0" lang="en-US" sz="1400" u="none" cap="none" strike="noStrike">
                <a:solidFill>
                  <a:srgbClr val="5B7682"/>
                </a:solidFill>
                <a:latin typeface="Calibri"/>
                <a:ea typeface="Calibri"/>
                <a:cs typeface="Calibri"/>
                <a:sym typeface="Calibri"/>
              </a:rPr>
              <a:t>Enge, alte Gassen führen vom Dom bis zum Rathaus von Palma.</a:t>
            </a:r>
            <a:endParaRPr b="0" i="0" sz="1400" u="none" cap="none" strike="noStrike">
              <a:solidFill>
                <a:schemeClr val="dk1"/>
              </a:solidFill>
              <a:latin typeface="Calibri"/>
              <a:ea typeface="Calibri"/>
              <a:cs typeface="Calibri"/>
              <a:sym typeface="Calibri"/>
            </a:endParaRPr>
          </a:p>
        </p:txBody>
      </p:sp>
      <p:sp>
        <p:nvSpPr>
          <p:cNvPr id="115" name="Google Shape;115;p7"/>
          <p:cNvSpPr/>
          <p:nvPr/>
        </p:nvSpPr>
        <p:spPr>
          <a:xfrm>
            <a:off x="5486400" y="3950208"/>
            <a:ext cx="749808" cy="749808"/>
          </a:xfrm>
          <a:prstGeom prst="ellipse">
            <a:avLst/>
          </a:prstGeom>
          <a:solidFill>
            <a:srgbClr val="C049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6" name="Google Shape;116;p7"/>
          <p:cNvPicPr preferRelativeResize="0"/>
          <p:nvPr/>
        </p:nvPicPr>
        <p:blipFill rotWithShape="1">
          <a:blip r:embed="rId6">
            <a:alphaModFix/>
          </a:blip>
          <a:srcRect b="0" l="0" r="0" t="0"/>
          <a:stretch/>
        </p:blipFill>
        <p:spPr>
          <a:xfrm>
            <a:off x="5673852" y="4137660"/>
            <a:ext cx="374904" cy="374904"/>
          </a:xfrm>
          <a:prstGeom prst="rect">
            <a:avLst/>
          </a:prstGeom>
          <a:noFill/>
          <a:ln>
            <a:noFill/>
          </a:ln>
        </p:spPr>
      </p:pic>
      <p:sp>
        <p:nvSpPr>
          <p:cNvPr id="117" name="Google Shape;117;p7"/>
          <p:cNvSpPr/>
          <p:nvPr/>
        </p:nvSpPr>
        <p:spPr>
          <a:xfrm>
            <a:off x="6446520" y="3895344"/>
            <a:ext cx="5074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750"/>
              <a:buFont typeface="Georgia"/>
              <a:buNone/>
            </a:pPr>
            <a:r>
              <a:rPr b="1" i="0" lang="en-US" sz="1750" u="none" cap="none" strike="noStrike">
                <a:solidFill>
                  <a:srgbClr val="0F2A38"/>
                </a:solidFill>
                <a:latin typeface="Georgia"/>
                <a:ea typeface="Georgia"/>
                <a:cs typeface="Georgia"/>
                <a:sym typeface="Georgia"/>
              </a:rPr>
              <a:t>Castell de Bellver</a:t>
            </a:r>
            <a:endParaRPr b="0" i="0" sz="1750" u="none" cap="none" strike="noStrike">
              <a:solidFill>
                <a:schemeClr val="dk1"/>
              </a:solidFill>
              <a:latin typeface="Calibri"/>
              <a:ea typeface="Calibri"/>
              <a:cs typeface="Calibri"/>
              <a:sym typeface="Calibri"/>
            </a:endParaRPr>
          </a:p>
        </p:txBody>
      </p:sp>
      <p:sp>
        <p:nvSpPr>
          <p:cNvPr id="118" name="Google Shape;118;p7"/>
          <p:cNvSpPr/>
          <p:nvPr/>
        </p:nvSpPr>
        <p:spPr>
          <a:xfrm>
            <a:off x="6446520" y="4297680"/>
            <a:ext cx="5074920"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7682"/>
              </a:buClr>
              <a:buSzPts val="1400"/>
              <a:buFont typeface="Calibri"/>
              <a:buNone/>
            </a:pPr>
            <a:r>
              <a:rPr b="0" i="0" lang="en-US" sz="1400" u="none" cap="none" strike="noStrike">
                <a:solidFill>
                  <a:srgbClr val="5B7682"/>
                </a:solidFill>
                <a:latin typeface="Calibri"/>
                <a:ea typeface="Calibri"/>
                <a:cs typeface="Calibri"/>
                <a:sym typeface="Calibri"/>
              </a:rPr>
              <a:t>Eine runde Burg über der Stadt mit tollem Blick. Der Eintritt ist günstig.</a:t>
            </a:r>
            <a:endParaRPr b="0" i="0" sz="1400" u="none" cap="none" strike="noStrike">
              <a:solidFill>
                <a:schemeClr val="dk1"/>
              </a:solidFill>
              <a:latin typeface="Calibri"/>
              <a:ea typeface="Calibri"/>
              <a:cs typeface="Calibri"/>
              <a:sym typeface="Calibri"/>
            </a:endParaRPr>
          </a:p>
        </p:txBody>
      </p:sp>
      <p:sp>
        <p:nvSpPr>
          <p:cNvPr id="119" name="Google Shape;119;p7"/>
          <p:cNvSpPr/>
          <p:nvPr/>
        </p:nvSpPr>
        <p:spPr>
          <a:xfrm>
            <a:off x="5486400" y="5010912"/>
            <a:ext cx="749808" cy="749808"/>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0" name="Google Shape;120;p7"/>
          <p:cNvPicPr preferRelativeResize="0"/>
          <p:nvPr/>
        </p:nvPicPr>
        <p:blipFill rotWithShape="1">
          <a:blip r:embed="rId7">
            <a:alphaModFix/>
          </a:blip>
          <a:srcRect b="0" l="0" r="0" t="0"/>
          <a:stretch/>
        </p:blipFill>
        <p:spPr>
          <a:xfrm>
            <a:off x="5673852" y="5198364"/>
            <a:ext cx="374904" cy="374904"/>
          </a:xfrm>
          <a:prstGeom prst="rect">
            <a:avLst/>
          </a:prstGeom>
          <a:noFill/>
          <a:ln>
            <a:noFill/>
          </a:ln>
        </p:spPr>
      </p:pic>
      <p:sp>
        <p:nvSpPr>
          <p:cNvPr id="121" name="Google Shape;121;p7"/>
          <p:cNvSpPr/>
          <p:nvPr/>
        </p:nvSpPr>
        <p:spPr>
          <a:xfrm>
            <a:off x="6446520" y="4956048"/>
            <a:ext cx="5074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750"/>
              <a:buFont typeface="Georgia"/>
              <a:buNone/>
            </a:pPr>
            <a:r>
              <a:rPr b="1" i="0" lang="en-US" sz="1750" u="none" cap="none" strike="noStrike">
                <a:solidFill>
                  <a:srgbClr val="0F2A38"/>
                </a:solidFill>
                <a:latin typeface="Georgia"/>
                <a:ea typeface="Georgia"/>
                <a:cs typeface="Georgia"/>
                <a:sym typeface="Georgia"/>
              </a:rPr>
              <a:t>Fundació Miró</a:t>
            </a:r>
            <a:endParaRPr b="0" i="0" sz="1750" u="none" cap="none" strike="noStrike">
              <a:solidFill>
                <a:schemeClr val="dk1"/>
              </a:solidFill>
              <a:latin typeface="Calibri"/>
              <a:ea typeface="Calibri"/>
              <a:cs typeface="Calibri"/>
              <a:sym typeface="Calibri"/>
            </a:endParaRPr>
          </a:p>
        </p:txBody>
      </p:sp>
      <p:sp>
        <p:nvSpPr>
          <p:cNvPr id="122" name="Google Shape;122;p7"/>
          <p:cNvSpPr/>
          <p:nvPr/>
        </p:nvSpPr>
        <p:spPr>
          <a:xfrm>
            <a:off x="6446520" y="5358384"/>
            <a:ext cx="5074920"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B7682"/>
              </a:buClr>
              <a:buSzPts val="1400"/>
              <a:buFont typeface="Calibri"/>
              <a:buNone/>
            </a:pPr>
            <a:r>
              <a:rPr b="0" i="0" lang="en-US" sz="1400" u="none" cap="none" strike="noStrike">
                <a:solidFill>
                  <a:srgbClr val="5B7682"/>
                </a:solidFill>
                <a:latin typeface="Calibri"/>
                <a:ea typeface="Calibri"/>
                <a:cs typeface="Calibri"/>
                <a:sym typeface="Calibri"/>
              </a:rPr>
              <a:t>Hier hat der bekannte Maler Joan Miró gelebt und gearbeitet.</a:t>
            </a:r>
            <a:endParaRPr b="0" i="0" sz="1400" u="none" cap="none" strike="noStrike">
              <a:solidFill>
                <a:schemeClr val="dk1"/>
              </a:solidFill>
              <a:latin typeface="Calibri"/>
              <a:ea typeface="Calibri"/>
              <a:cs typeface="Calibri"/>
              <a:sym typeface="Calibri"/>
            </a:endParaRPr>
          </a:p>
        </p:txBody>
      </p:sp>
      <p:pic>
        <p:nvPicPr>
          <p:cNvPr id="123" name="Picture 122" descr="cathedral_cropped.jpg"/>
          <p:cNvPicPr>
            <a:picLocks noChangeAspect="1"/>
          </p:cNvPicPr>
          <p:nvPr/>
        </p:nvPicPr>
        <p:blipFill>
          <a:blip r:embed="rId8"/>
          <a:stretch>
            <a:fillRect/>
          </a:stretch>
        </p:blipFill>
        <p:spPr>
          <a:xfrm>
            <a:off x="640080" y="1737360"/>
            <a:ext cx="4434840" cy="3749039"/>
          </a:xfrm>
          <a:prstGeom prst="rect">
            <a:avLst/>
          </a:prstGeom>
        </p:spPr>
      </p:pic>
      <p:sp>
        <p:nvSpPr>
          <p:cNvPr id="124" name="TextBox 123"/>
          <p:cNvSpPr txBox="1"/>
          <p:nvPr/>
        </p:nvSpPr>
        <p:spPr>
          <a:xfrm>
            <a:off x="960120" y="5029200"/>
            <a:ext cx="3794760" cy="320040"/>
          </a:xfrm>
          <a:prstGeom prst="rect">
            <a:avLst/>
          </a:prstGeom>
          <a:noFill/>
        </p:spPr>
        <p:txBody>
          <a:bodyPr wrap="square">
            <a:spAutoFit/>
          </a:bodyPr>
          <a:lstStyle/>
          <a:p>
            <a:pPr algn="ctr">
              <a:defRPr sz="800">
                <a:solidFill>
                  <a:srgbClr val="666666"/>
                </a:solidFill>
              </a:defRPr>
            </a:pPr>
            <a:r>
              <a:t>Kathedrale La Seu, Palma</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8"/>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492C"/>
              </a:buClr>
              <a:buSzPts val="1250"/>
              <a:buFont typeface="Calibri"/>
              <a:buNone/>
            </a:pPr>
            <a:r>
              <a:rPr b="1" i="0" lang="en-US" sz="1250" u="none" cap="none" strike="noStrike">
                <a:solidFill>
                  <a:srgbClr val="C0492C"/>
                </a:solidFill>
                <a:latin typeface="Calibri"/>
                <a:ea typeface="Calibri"/>
                <a:cs typeface="Calibri"/>
                <a:sym typeface="Calibri"/>
              </a:rPr>
              <a:t>FÜR DEN LATEINKURS</a:t>
            </a:r>
            <a:endParaRPr b="0" i="0" sz="1250" u="none" cap="none" strike="noStrike">
              <a:solidFill>
                <a:schemeClr val="dk1"/>
              </a:solidFill>
              <a:latin typeface="Calibri"/>
              <a:ea typeface="Calibri"/>
              <a:cs typeface="Calibri"/>
              <a:sym typeface="Calibri"/>
            </a:endParaRPr>
          </a:p>
        </p:txBody>
      </p:sp>
      <p:sp>
        <p:nvSpPr>
          <p:cNvPr id="129" name="Google Shape;129;p8"/>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Latein zum Anschauen: Pollentia</a:t>
            </a:r>
            <a:endParaRPr b="0" i="0" sz="3100" u="none" cap="none" strike="noStrike">
              <a:solidFill>
                <a:schemeClr val="dk1"/>
              </a:solidFill>
              <a:latin typeface="Calibri"/>
              <a:ea typeface="Calibri"/>
              <a:cs typeface="Calibri"/>
              <a:sym typeface="Calibri"/>
            </a:endParaRPr>
          </a:p>
        </p:txBody>
      </p:sp>
      <p:sp>
        <p:nvSpPr>
          <p:cNvPr id="134" name="Google Shape;134;p8"/>
          <p:cNvSpPr/>
          <p:nvPr/>
        </p:nvSpPr>
        <p:spPr>
          <a:xfrm>
            <a:off x="5486400" y="1737360"/>
            <a:ext cx="6035040" cy="7315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88395"/>
              </a:buClr>
              <a:buSzPts val="1600"/>
              <a:buFont typeface="Calibri"/>
              <a:buNone/>
            </a:pPr>
            <a:r>
              <a:rPr b="0" i="1" lang="en-US" sz="1600" u="none" cap="none" strike="noStrike">
                <a:solidFill>
                  <a:srgbClr val="088395"/>
                </a:solidFill>
                <a:latin typeface="Calibri"/>
                <a:ea typeface="Calibri"/>
                <a:cs typeface="Calibri"/>
                <a:sym typeface="Calibri"/>
              </a:rPr>
              <a:t>Pollentia ist die wichtigste römische Stadt auf Mallorca. Sie wurde 123 vor Christus gegründet.</a:t>
            </a:r>
            <a:endParaRPr b="0" i="0" sz="1600" u="none" cap="none" strike="noStrike">
              <a:solidFill>
                <a:schemeClr val="dk1"/>
              </a:solidFill>
              <a:latin typeface="Calibri"/>
              <a:ea typeface="Calibri"/>
              <a:cs typeface="Calibri"/>
              <a:sym typeface="Calibri"/>
            </a:endParaRPr>
          </a:p>
        </p:txBody>
      </p:sp>
      <p:sp>
        <p:nvSpPr>
          <p:cNvPr id="135" name="Google Shape;135;p8"/>
          <p:cNvSpPr/>
          <p:nvPr/>
        </p:nvSpPr>
        <p:spPr>
          <a:xfrm>
            <a:off x="5486400" y="2606040"/>
            <a:ext cx="6035040" cy="2103120"/>
          </a:xfrm>
          <a:prstGeom prst="rect">
            <a:avLst/>
          </a:prstGeom>
          <a:noFill/>
          <a:ln>
            <a:noFill/>
          </a:ln>
        </p:spPr>
        <p:txBody>
          <a:bodyPr anchorCtr="0" anchor="t" bIns="45700" lIns="91425" spcFirstLastPara="1" rIns="91425" wrap="square" tIns="45700">
            <a:noAutofit/>
          </a:bodyPr>
          <a:lstStyle/>
          <a:p>
            <a:pPr indent="-254000" lvl="0" marL="254000" marR="0" rtl="0" algn="l">
              <a:lnSpc>
                <a:spcPct val="105000"/>
              </a:lnSpc>
              <a:spcBef>
                <a:spcPts val="0"/>
              </a:spcBef>
              <a:spcAft>
                <a:spcPts val="0"/>
              </a:spcAft>
              <a:buClr>
                <a:srgbClr val="0F2A38"/>
              </a:buClr>
              <a:buSzPts val="1600"/>
              <a:buFont typeface="Calibri"/>
              <a:buChar char="•"/>
            </a:pPr>
            <a:r>
              <a:rPr b="0" i="0" lang="en-US" sz="1600" u="none" cap="none" strike="noStrike">
                <a:solidFill>
                  <a:srgbClr val="0F2A38"/>
                </a:solidFill>
                <a:latin typeface="Calibri"/>
                <a:ea typeface="Calibri"/>
                <a:cs typeface="Calibri"/>
                <a:sym typeface="Calibri"/>
              </a:rPr>
              <a:t>Wir können ein Forum, alte römische Häuser und ein Theater sehen, das in den Felsen gehauen ist.</a:t>
            </a:r>
            <a:endParaRPr b="0" i="0" sz="1600" u="none" cap="none" strike="noStrike">
              <a:solidFill>
                <a:schemeClr val="dk1"/>
              </a:solidFill>
              <a:latin typeface="Calibri"/>
              <a:ea typeface="Calibri"/>
              <a:cs typeface="Calibri"/>
              <a:sym typeface="Calibri"/>
            </a:endParaRPr>
          </a:p>
          <a:p>
            <a:pPr indent="-254000" lvl="0" marL="254000" marR="0" rtl="0" algn="l">
              <a:lnSpc>
                <a:spcPct val="105000"/>
              </a:lnSpc>
              <a:spcBef>
                <a:spcPts val="1300"/>
              </a:spcBef>
              <a:spcAft>
                <a:spcPts val="0"/>
              </a:spcAft>
              <a:buClr>
                <a:srgbClr val="0F2A38"/>
              </a:buClr>
              <a:buSzPts val="1600"/>
              <a:buFont typeface="Calibri"/>
              <a:buChar char="•"/>
            </a:pPr>
            <a:r>
              <a:rPr b="0" i="0" lang="en-US" sz="1600" u="none" cap="none" strike="noStrike">
                <a:solidFill>
                  <a:srgbClr val="0F2A38"/>
                </a:solidFill>
                <a:latin typeface="Calibri"/>
                <a:ea typeface="Calibri"/>
                <a:cs typeface="Calibri"/>
                <a:sym typeface="Calibri"/>
              </a:rPr>
              <a:t>Wörter wie domus, atrium und forum schauen wir uns direkt vor Ort an.</a:t>
            </a:r>
            <a:endParaRPr b="0" i="0" sz="1600" u="none" cap="none" strike="noStrike">
              <a:solidFill>
                <a:schemeClr val="dk1"/>
              </a:solidFill>
              <a:latin typeface="Calibri"/>
              <a:ea typeface="Calibri"/>
              <a:cs typeface="Calibri"/>
              <a:sym typeface="Calibri"/>
            </a:endParaRPr>
          </a:p>
          <a:p>
            <a:pPr indent="-254000" lvl="0" marL="254000" marR="0" rtl="0" algn="l">
              <a:lnSpc>
                <a:spcPct val="105000"/>
              </a:lnSpc>
              <a:spcBef>
                <a:spcPts val="1300"/>
              </a:spcBef>
              <a:spcAft>
                <a:spcPts val="0"/>
              </a:spcAft>
              <a:buClr>
                <a:srgbClr val="0F2A38"/>
              </a:buClr>
              <a:buSzPts val="1600"/>
              <a:buFont typeface="Calibri"/>
              <a:buChar char="•"/>
            </a:pPr>
            <a:r>
              <a:rPr b="0" i="0" lang="en-US" sz="1600" u="none" cap="none" strike="noStrike">
                <a:solidFill>
                  <a:srgbClr val="0F2A38"/>
                </a:solidFill>
                <a:latin typeface="Calibri"/>
                <a:ea typeface="Calibri"/>
                <a:cs typeface="Calibri"/>
                <a:sym typeface="Calibri"/>
              </a:rPr>
              <a:t>Im Museum liegen echte Funde wie Amphoren, Münzen und Mosaike.</a:t>
            </a:r>
            <a:endParaRPr b="0" i="0" sz="1600" u="none" cap="none" strike="noStrike">
              <a:solidFill>
                <a:schemeClr val="dk1"/>
              </a:solidFill>
              <a:latin typeface="Calibri"/>
              <a:ea typeface="Calibri"/>
              <a:cs typeface="Calibri"/>
              <a:sym typeface="Calibri"/>
            </a:endParaRPr>
          </a:p>
        </p:txBody>
      </p:sp>
      <p:sp>
        <p:nvSpPr>
          <p:cNvPr id="136" name="Google Shape;136;p8"/>
          <p:cNvSpPr/>
          <p:nvPr/>
        </p:nvSpPr>
        <p:spPr>
          <a:xfrm>
            <a:off x="5486400" y="5120640"/>
            <a:ext cx="5989320" cy="868680"/>
          </a:xfrm>
          <a:prstGeom prst="roundRect">
            <a:avLst>
              <a:gd fmla="val 10526" name="adj"/>
            </a:avLst>
          </a:prstGeom>
          <a:solidFill>
            <a:srgbClr val="0A4D68"/>
          </a:solidFill>
          <a:ln>
            <a:noFill/>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5760720" y="5321808"/>
            <a:ext cx="475488" cy="475488"/>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8" name="Google Shape;138;p8"/>
          <p:cNvPicPr preferRelativeResize="0"/>
          <p:nvPr/>
        </p:nvPicPr>
        <p:blipFill rotWithShape="1">
          <a:blip r:embed="rId4">
            <a:alphaModFix/>
          </a:blip>
          <a:srcRect b="0" l="0" r="0" t="0"/>
          <a:stretch/>
        </p:blipFill>
        <p:spPr>
          <a:xfrm>
            <a:off x="5879592" y="5440680"/>
            <a:ext cx="237744" cy="237744"/>
          </a:xfrm>
          <a:prstGeom prst="rect">
            <a:avLst/>
          </a:prstGeom>
          <a:noFill/>
          <a:ln>
            <a:noFill/>
          </a:ln>
        </p:spPr>
      </p:pic>
      <p:sp>
        <p:nvSpPr>
          <p:cNvPr id="139" name="Google Shape;139;p8"/>
          <p:cNvSpPr/>
          <p:nvPr/>
        </p:nvSpPr>
        <p:spPr>
          <a:xfrm>
            <a:off x="6400800" y="5120640"/>
            <a:ext cx="49377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50"/>
              <a:buFont typeface="Calibri"/>
              <a:buNone/>
            </a:pPr>
            <a:r>
              <a:rPr b="1" i="0" lang="en-US" sz="1650" u="none" cap="none" strike="noStrike">
                <a:solidFill>
                  <a:srgbClr val="FFFFFF"/>
                </a:solidFill>
                <a:latin typeface="Calibri"/>
                <a:ea typeface="Calibri"/>
                <a:cs typeface="Calibri"/>
                <a:sym typeface="Calibri"/>
              </a:rPr>
              <a:t>Der Eintritt kostet nur 4 € pro Person. </a:t>
            </a:r>
            <a:r>
              <a:rPr b="0" i="0" lang="en-US" sz="1450" u="none" cap="none" strike="noStrike">
                <a:solidFill>
                  <a:srgbClr val="41AABF"/>
                </a:solidFill>
                <a:latin typeface="Calibri"/>
                <a:ea typeface="Calibri"/>
                <a:cs typeface="Calibri"/>
                <a:sym typeface="Calibri"/>
              </a:rPr>
              <a:t>Das ist sehr günstig.</a:t>
            </a:r>
            <a:endParaRPr b="0" i="0" sz="1650" u="none" cap="none" strike="noStrike">
              <a:solidFill>
                <a:schemeClr val="dk1"/>
              </a:solidFill>
              <a:latin typeface="Calibri"/>
              <a:ea typeface="Calibri"/>
              <a:cs typeface="Calibri"/>
              <a:sym typeface="Calibri"/>
            </a:endParaRPr>
          </a:p>
        </p:txBody>
      </p:sp>
      <p:pic>
        <p:nvPicPr>
          <p:cNvPr id="140" name="Picture 139" descr="pollentia_cropped.jpg"/>
          <p:cNvPicPr>
            <a:picLocks noChangeAspect="1"/>
          </p:cNvPicPr>
          <p:nvPr/>
        </p:nvPicPr>
        <p:blipFill>
          <a:blip r:embed="rId5"/>
          <a:stretch>
            <a:fillRect/>
          </a:stretch>
        </p:blipFill>
        <p:spPr>
          <a:xfrm>
            <a:off x="640080" y="1737360"/>
            <a:ext cx="4434840" cy="3749039"/>
          </a:xfrm>
          <a:prstGeom prst="rect">
            <a:avLst/>
          </a:prstGeom>
        </p:spPr>
      </p:pic>
      <p:sp>
        <p:nvSpPr>
          <p:cNvPr id="141" name="TextBox 140"/>
          <p:cNvSpPr txBox="1"/>
          <p:nvPr/>
        </p:nvSpPr>
        <p:spPr>
          <a:xfrm>
            <a:off x="640080" y="5029200"/>
            <a:ext cx="4434840" cy="411480"/>
          </a:xfrm>
          <a:prstGeom prst="rect">
            <a:avLst/>
          </a:prstGeom>
          <a:noFill/>
        </p:spPr>
        <p:txBody>
          <a:bodyPr wrap="square">
            <a:spAutoFit/>
          </a:bodyPr>
          <a:lstStyle/>
          <a:p>
            <a:pPr algn="ctr">
              <a:defRPr sz="800">
                <a:solidFill>
                  <a:srgbClr val="666666"/>
                </a:solidFill>
              </a:defRPr>
            </a:pPr>
            <a:r>
              <a:t>Ruinen von Pollentia, Alcúdia (Foto: Olaf Tausch, CC BY-SA 3.0)</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sp>
        <p:nvSpPr>
          <p:cNvPr id="145" name="Google Shape;145;p9"/>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DIE ANREISE</a:t>
            </a:r>
            <a:endParaRPr b="0" i="0" sz="1250" u="none" cap="none" strike="noStrike">
              <a:solidFill>
                <a:schemeClr val="dk1"/>
              </a:solidFill>
              <a:latin typeface="Calibri"/>
              <a:ea typeface="Calibri"/>
              <a:cs typeface="Calibri"/>
              <a:sym typeface="Calibri"/>
            </a:endParaRPr>
          </a:p>
        </p:txBody>
      </p:sp>
      <p:sp>
        <p:nvSpPr>
          <p:cNvPr id="146" name="Google Shape;146;p9"/>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Der Flug ist kurz und einfach</a:t>
            </a:r>
            <a:endParaRPr b="0" i="0" sz="3100" u="none" cap="none" strike="noStrike">
              <a:solidFill>
                <a:schemeClr val="dk1"/>
              </a:solidFill>
              <a:latin typeface="Calibri"/>
              <a:ea typeface="Calibri"/>
              <a:cs typeface="Calibri"/>
              <a:sym typeface="Calibri"/>
            </a:endParaRPr>
          </a:p>
        </p:txBody>
      </p:sp>
      <p:sp>
        <p:nvSpPr>
          <p:cNvPr id="147" name="Google Shape;147;p9"/>
          <p:cNvSpPr/>
          <p:nvPr/>
        </p:nvSpPr>
        <p:spPr>
          <a:xfrm>
            <a:off x="640080" y="1536192"/>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682"/>
              </a:buClr>
              <a:buSzPts val="1550"/>
              <a:buFont typeface="Calibri"/>
              <a:buNone/>
            </a:pPr>
            <a:r>
              <a:rPr b="0" i="0" lang="en-US" sz="1550" u="none" cap="none" strike="noStrike">
                <a:solidFill>
                  <a:srgbClr val="5B7682"/>
                </a:solidFill>
                <a:latin typeface="Calibri"/>
                <a:ea typeface="Calibri"/>
                <a:cs typeface="Calibri"/>
                <a:sym typeface="Calibri"/>
              </a:rPr>
              <a:t>Wir fliegen direkt von Münster/Osnabrück nach Palma. Umsteigen muss man nicht, und der Flug dauert nur etwa zweieinhalb Stunden.</a:t>
            </a:r>
            <a:endParaRPr b="0" i="0" sz="1550" u="none" cap="none" strike="noStrike">
              <a:solidFill>
                <a:schemeClr val="dk1"/>
              </a:solidFill>
              <a:latin typeface="Calibri"/>
              <a:ea typeface="Calibri"/>
              <a:cs typeface="Calibri"/>
              <a:sym typeface="Calibri"/>
            </a:endParaRPr>
          </a:p>
        </p:txBody>
      </p:sp>
      <p:cxnSp>
        <p:nvCxnSpPr>
          <p:cNvPr id="148" name="Google Shape;148;p9"/>
          <p:cNvCxnSpPr/>
          <p:nvPr/>
        </p:nvCxnSpPr>
        <p:spPr>
          <a:xfrm>
            <a:off x="2103120" y="2880360"/>
            <a:ext cx="7955280" cy="0"/>
          </a:xfrm>
          <a:prstGeom prst="straightConnector1">
            <a:avLst/>
          </a:prstGeom>
          <a:noFill/>
          <a:ln cap="flat" cmpd="sng" w="31750">
            <a:solidFill>
              <a:srgbClr val="41AABF"/>
            </a:solidFill>
            <a:prstDash val="dash"/>
            <a:round/>
            <a:headEnd len="sm" w="sm" type="none"/>
            <a:tailEnd len="sm" w="sm" type="none"/>
          </a:ln>
        </p:spPr>
      </p:cxnSp>
      <p:sp>
        <p:nvSpPr>
          <p:cNvPr id="149" name="Google Shape;149;p9"/>
          <p:cNvSpPr/>
          <p:nvPr/>
        </p:nvSpPr>
        <p:spPr>
          <a:xfrm>
            <a:off x="1874520" y="2679192"/>
            <a:ext cx="402336" cy="402336"/>
          </a:xfrm>
          <a:prstGeom prst="ellipse">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
          <p:cNvSpPr/>
          <p:nvPr/>
        </p:nvSpPr>
        <p:spPr>
          <a:xfrm>
            <a:off x="9875520" y="2679192"/>
            <a:ext cx="402336" cy="402336"/>
          </a:xfrm>
          <a:prstGeom prst="ellipse">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
          <p:cNvSpPr/>
          <p:nvPr/>
        </p:nvSpPr>
        <p:spPr>
          <a:xfrm>
            <a:off x="5806440" y="2496312"/>
            <a:ext cx="777240" cy="777240"/>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2" name="Google Shape;152;p9"/>
          <p:cNvPicPr preferRelativeResize="0"/>
          <p:nvPr/>
        </p:nvPicPr>
        <p:blipFill rotWithShape="1">
          <a:blip r:embed="rId3">
            <a:alphaModFix/>
          </a:blip>
          <a:srcRect b="0" l="0" r="0" t="0"/>
          <a:stretch/>
        </p:blipFill>
        <p:spPr>
          <a:xfrm>
            <a:off x="6007608" y="2697480"/>
            <a:ext cx="384048" cy="384048"/>
          </a:xfrm>
          <a:prstGeom prst="rect">
            <a:avLst/>
          </a:prstGeom>
          <a:noFill/>
          <a:ln>
            <a:noFill/>
          </a:ln>
        </p:spPr>
      </p:pic>
      <p:sp>
        <p:nvSpPr>
          <p:cNvPr id="153" name="Google Shape;153;p9"/>
          <p:cNvSpPr/>
          <p:nvPr/>
        </p:nvSpPr>
        <p:spPr>
          <a:xfrm>
            <a:off x="1097280" y="3200400"/>
            <a:ext cx="2377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A38"/>
              </a:buClr>
              <a:buSzPts val="1500"/>
              <a:buFont typeface="Georgia"/>
              <a:buNone/>
            </a:pPr>
            <a:r>
              <a:rPr b="1" i="0" lang="en-US" sz="1500" u="none" cap="none" strike="noStrike">
                <a:solidFill>
                  <a:srgbClr val="0F2A38"/>
                </a:solidFill>
                <a:latin typeface="Georgia"/>
                <a:ea typeface="Georgia"/>
                <a:cs typeface="Georgia"/>
                <a:sym typeface="Georgia"/>
              </a:rPr>
              <a:t>Münster / Osnabrück</a:t>
            </a:r>
            <a:endParaRPr b="0" i="0" sz="1500" u="none" cap="none" strike="noStrike">
              <a:solidFill>
                <a:schemeClr val="dk1"/>
              </a:solidFill>
              <a:latin typeface="Calibri"/>
              <a:ea typeface="Calibri"/>
              <a:cs typeface="Calibri"/>
              <a:sym typeface="Calibri"/>
            </a:endParaRPr>
          </a:p>
        </p:txBody>
      </p:sp>
      <p:sp>
        <p:nvSpPr>
          <p:cNvPr id="154" name="Google Shape;154;p9"/>
          <p:cNvSpPr/>
          <p:nvPr/>
        </p:nvSpPr>
        <p:spPr>
          <a:xfrm>
            <a:off x="1097280" y="3538728"/>
            <a:ext cx="23774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682"/>
              </a:buClr>
              <a:buSzPts val="1250"/>
              <a:buFont typeface="Calibri"/>
              <a:buNone/>
            </a:pPr>
            <a:r>
              <a:rPr b="0" i="0" lang="en-US" sz="1250" u="none" cap="none" strike="noStrike">
                <a:solidFill>
                  <a:srgbClr val="5B7682"/>
                </a:solidFill>
                <a:latin typeface="Calibri"/>
                <a:ea typeface="Calibri"/>
                <a:cs typeface="Calibri"/>
                <a:sym typeface="Calibri"/>
              </a:rPr>
              <a:t>(FMO)</a:t>
            </a:r>
            <a:endParaRPr b="0" i="0" sz="1250" u="none" cap="none" strike="noStrike">
              <a:solidFill>
                <a:schemeClr val="dk1"/>
              </a:solidFill>
              <a:latin typeface="Calibri"/>
              <a:ea typeface="Calibri"/>
              <a:cs typeface="Calibri"/>
              <a:sym typeface="Calibri"/>
            </a:endParaRPr>
          </a:p>
        </p:txBody>
      </p:sp>
      <p:sp>
        <p:nvSpPr>
          <p:cNvPr id="155" name="Google Shape;155;p9"/>
          <p:cNvSpPr/>
          <p:nvPr/>
        </p:nvSpPr>
        <p:spPr>
          <a:xfrm>
            <a:off x="8686800" y="3200400"/>
            <a:ext cx="2377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A38"/>
              </a:buClr>
              <a:buSzPts val="1500"/>
              <a:buFont typeface="Georgia"/>
              <a:buNone/>
            </a:pPr>
            <a:r>
              <a:rPr b="1" i="0" lang="en-US" sz="1500" u="none" cap="none" strike="noStrike">
                <a:solidFill>
                  <a:srgbClr val="0F2A38"/>
                </a:solidFill>
                <a:latin typeface="Georgia"/>
                <a:ea typeface="Georgia"/>
                <a:cs typeface="Georgia"/>
                <a:sym typeface="Georgia"/>
              </a:rPr>
              <a:t>Palma de Mallorca</a:t>
            </a:r>
            <a:endParaRPr b="0" i="0" sz="1500" u="none" cap="none" strike="noStrike">
              <a:solidFill>
                <a:schemeClr val="dk1"/>
              </a:solidFill>
              <a:latin typeface="Calibri"/>
              <a:ea typeface="Calibri"/>
              <a:cs typeface="Calibri"/>
              <a:sym typeface="Calibri"/>
            </a:endParaRPr>
          </a:p>
        </p:txBody>
      </p:sp>
      <p:sp>
        <p:nvSpPr>
          <p:cNvPr id="156" name="Google Shape;156;p9"/>
          <p:cNvSpPr/>
          <p:nvPr/>
        </p:nvSpPr>
        <p:spPr>
          <a:xfrm>
            <a:off x="8686800" y="3538728"/>
            <a:ext cx="23774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682"/>
              </a:buClr>
              <a:buSzPts val="1250"/>
              <a:buFont typeface="Calibri"/>
              <a:buNone/>
            </a:pPr>
            <a:r>
              <a:rPr b="0" i="0" lang="en-US" sz="1250" u="none" cap="none" strike="noStrike">
                <a:solidFill>
                  <a:srgbClr val="5B7682"/>
                </a:solidFill>
                <a:latin typeface="Calibri"/>
                <a:ea typeface="Calibri"/>
                <a:cs typeface="Calibri"/>
                <a:sym typeface="Calibri"/>
              </a:rPr>
              <a:t>(PMI)</a:t>
            </a:r>
            <a:endParaRPr b="0" i="0" sz="1250" u="none" cap="none" strike="noStrike">
              <a:solidFill>
                <a:schemeClr val="dk1"/>
              </a:solidFill>
              <a:latin typeface="Calibri"/>
              <a:ea typeface="Calibri"/>
              <a:cs typeface="Calibri"/>
              <a:sym typeface="Calibri"/>
            </a:endParaRPr>
          </a:p>
        </p:txBody>
      </p:sp>
      <p:sp>
        <p:nvSpPr>
          <p:cNvPr id="157" name="Google Shape;157;p9"/>
          <p:cNvSpPr/>
          <p:nvPr/>
        </p:nvSpPr>
        <p:spPr>
          <a:xfrm>
            <a:off x="640080" y="4480560"/>
            <a:ext cx="3456432" cy="1371600"/>
          </a:xfrm>
          <a:prstGeom prst="roundRect">
            <a:avLst>
              <a:gd fmla="val 5333"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p:nvPr/>
        </p:nvSpPr>
        <p:spPr>
          <a:xfrm>
            <a:off x="640080" y="4480560"/>
            <a:ext cx="128016" cy="1371600"/>
          </a:xfrm>
          <a:prstGeom prst="rect">
            <a:avLst/>
          </a:prstGeom>
          <a:solidFill>
            <a:srgbClr val="0883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960120" y="4718304"/>
            <a:ext cx="290779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8395"/>
              </a:buClr>
              <a:buSzPts val="2800"/>
              <a:buFont typeface="Georgia"/>
              <a:buNone/>
            </a:pPr>
            <a:r>
              <a:rPr b="1" i="0" lang="en-US" sz="2800" u="none" cap="none" strike="noStrike">
                <a:solidFill>
                  <a:srgbClr val="088395"/>
                </a:solidFill>
                <a:latin typeface="Georgia"/>
                <a:ea typeface="Georgia"/>
                <a:cs typeface="Georgia"/>
                <a:sym typeface="Georgia"/>
              </a:rPr>
              <a:t>2,5 Std.</a:t>
            </a:r>
            <a:endParaRPr b="0" i="0" sz="2800" u="none" cap="none" strike="noStrike">
              <a:solidFill>
                <a:schemeClr val="dk1"/>
              </a:solidFill>
              <a:latin typeface="Calibri"/>
              <a:ea typeface="Calibri"/>
              <a:cs typeface="Calibri"/>
              <a:sym typeface="Calibri"/>
            </a:endParaRPr>
          </a:p>
        </p:txBody>
      </p:sp>
      <p:sp>
        <p:nvSpPr>
          <p:cNvPr id="160" name="Google Shape;160;p9"/>
          <p:cNvSpPr/>
          <p:nvPr/>
        </p:nvSpPr>
        <p:spPr>
          <a:xfrm>
            <a:off x="960120" y="5321808"/>
            <a:ext cx="2907792"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7682"/>
              </a:buClr>
              <a:buSzPts val="1300"/>
              <a:buFont typeface="Calibri"/>
              <a:buNone/>
            </a:pPr>
            <a:r>
              <a:rPr b="0" i="0" lang="en-US" sz="1300" u="none" cap="none" strike="noStrike">
                <a:solidFill>
                  <a:srgbClr val="5B7682"/>
                </a:solidFill>
                <a:latin typeface="Calibri"/>
                <a:ea typeface="Calibri"/>
                <a:cs typeface="Calibri"/>
                <a:sym typeface="Calibri"/>
              </a:rPr>
              <a:t>reine Flugzeit</a:t>
            </a:r>
            <a:endParaRPr b="0" i="0" sz="1300" u="none" cap="none" strike="noStrike">
              <a:solidFill>
                <a:schemeClr val="dk1"/>
              </a:solidFill>
              <a:latin typeface="Calibri"/>
              <a:ea typeface="Calibri"/>
              <a:cs typeface="Calibri"/>
              <a:sym typeface="Calibri"/>
            </a:endParaRPr>
          </a:p>
        </p:txBody>
      </p:sp>
      <p:sp>
        <p:nvSpPr>
          <p:cNvPr id="161" name="Google Shape;161;p9"/>
          <p:cNvSpPr/>
          <p:nvPr/>
        </p:nvSpPr>
        <p:spPr>
          <a:xfrm>
            <a:off x="4370832" y="4480560"/>
            <a:ext cx="3456432" cy="1371600"/>
          </a:xfrm>
          <a:prstGeom prst="roundRect">
            <a:avLst>
              <a:gd fmla="val 5333"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4370832" y="4480560"/>
            <a:ext cx="128016" cy="1371600"/>
          </a:xfrm>
          <a:prstGeom prst="rect">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4690872" y="4718304"/>
            <a:ext cx="290779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4D68"/>
              </a:buClr>
              <a:buSzPts val="2800"/>
              <a:buFont typeface="Georgia"/>
              <a:buNone/>
            </a:pPr>
            <a:r>
              <a:rPr b="1" i="0" lang="en-US" sz="2800" u="none" cap="none" strike="noStrike">
                <a:solidFill>
                  <a:srgbClr val="0A4D68"/>
                </a:solidFill>
                <a:latin typeface="Georgia"/>
                <a:ea typeface="Georgia"/>
                <a:cs typeface="Georgia"/>
                <a:sym typeface="Georgia"/>
              </a:rPr>
              <a:t>0 mal</a:t>
            </a:r>
            <a:endParaRPr b="0" i="0" sz="2800" u="none" cap="none" strike="noStrike">
              <a:solidFill>
                <a:schemeClr val="dk1"/>
              </a:solidFill>
              <a:latin typeface="Calibri"/>
              <a:ea typeface="Calibri"/>
              <a:cs typeface="Calibri"/>
              <a:sym typeface="Calibri"/>
            </a:endParaRPr>
          </a:p>
        </p:txBody>
      </p:sp>
      <p:sp>
        <p:nvSpPr>
          <p:cNvPr id="164" name="Google Shape;164;p9"/>
          <p:cNvSpPr/>
          <p:nvPr/>
        </p:nvSpPr>
        <p:spPr>
          <a:xfrm>
            <a:off x="4690872" y="5321808"/>
            <a:ext cx="2907792"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7682"/>
              </a:buClr>
              <a:buSzPts val="1300"/>
              <a:buFont typeface="Calibri"/>
              <a:buNone/>
            </a:pPr>
            <a:r>
              <a:rPr b="0" i="0" lang="en-US" sz="1300" u="none" cap="none" strike="noStrike">
                <a:solidFill>
                  <a:srgbClr val="5B7682"/>
                </a:solidFill>
                <a:latin typeface="Calibri"/>
                <a:ea typeface="Calibri"/>
                <a:cs typeface="Calibri"/>
                <a:sym typeface="Calibri"/>
              </a:rPr>
              <a:t>Umsteigen, es ist ein Direktflug</a:t>
            </a:r>
            <a:endParaRPr b="0" i="0" sz="1300" u="none" cap="none" strike="noStrike">
              <a:solidFill>
                <a:schemeClr val="dk1"/>
              </a:solidFill>
              <a:latin typeface="Calibri"/>
              <a:ea typeface="Calibri"/>
              <a:cs typeface="Calibri"/>
              <a:sym typeface="Calibri"/>
            </a:endParaRPr>
          </a:p>
        </p:txBody>
      </p:sp>
      <p:sp>
        <p:nvSpPr>
          <p:cNvPr id="165" name="Google Shape;165;p9"/>
          <p:cNvSpPr/>
          <p:nvPr/>
        </p:nvSpPr>
        <p:spPr>
          <a:xfrm>
            <a:off x="8101584" y="4480560"/>
            <a:ext cx="3456432" cy="1371600"/>
          </a:xfrm>
          <a:prstGeom prst="roundRect">
            <a:avLst>
              <a:gd fmla="val 5333"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8101584" y="4480560"/>
            <a:ext cx="128016" cy="1371600"/>
          </a:xfrm>
          <a:prstGeom prst="rect">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p:nvPr/>
        </p:nvSpPr>
        <p:spPr>
          <a:xfrm>
            <a:off x="8421624" y="4718304"/>
            <a:ext cx="290779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2800"/>
              <a:buFont typeface="Georgia"/>
              <a:buNone/>
            </a:pPr>
            <a:r>
              <a:rPr b="1" i="0" lang="en-US" sz="2800" u="none" cap="none" strike="noStrike">
                <a:solidFill>
                  <a:srgbClr val="E9B44C"/>
                </a:solidFill>
                <a:latin typeface="Georgia"/>
                <a:ea typeface="Georgia"/>
                <a:cs typeface="Georgia"/>
                <a:sym typeface="Georgia"/>
              </a:rPr>
              <a:t>ab 130 €</a:t>
            </a:r>
            <a:endParaRPr b="0" i="0" sz="2800" u="none" cap="none" strike="noStrike">
              <a:solidFill>
                <a:schemeClr val="dk1"/>
              </a:solidFill>
              <a:latin typeface="Calibri"/>
              <a:ea typeface="Calibri"/>
              <a:cs typeface="Calibri"/>
              <a:sym typeface="Calibri"/>
            </a:endParaRPr>
          </a:p>
        </p:txBody>
      </p:sp>
      <p:sp>
        <p:nvSpPr>
          <p:cNvPr id="168" name="Google Shape;168;p9"/>
          <p:cNvSpPr/>
          <p:nvPr/>
        </p:nvSpPr>
        <p:spPr>
          <a:xfrm>
            <a:off x="8421624" y="5321808"/>
            <a:ext cx="2907792"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7682"/>
              </a:buClr>
              <a:buSzPts val="1300"/>
              <a:buFont typeface="Calibri"/>
              <a:buNone/>
            </a:pPr>
            <a:r>
              <a:rPr b="0" i="0" lang="en-US" sz="1300" u="none" cap="none" strike="noStrike">
                <a:solidFill>
                  <a:srgbClr val="5B7682"/>
                </a:solidFill>
                <a:latin typeface="Calibri"/>
                <a:ea typeface="Calibri"/>
                <a:cs typeface="Calibri"/>
                <a:sym typeface="Calibri"/>
              </a:rPr>
              <a:t>Hin- und Rückflug pro Person</a:t>
            </a:r>
            <a:endParaRPr b="0" i="0" sz="1300" u="none" cap="none" strike="noStrike">
              <a:solidFill>
                <a:schemeClr val="dk1"/>
              </a:solidFill>
              <a:latin typeface="Calibri"/>
              <a:ea typeface="Calibri"/>
              <a:cs typeface="Calibri"/>
              <a:sym typeface="Calibri"/>
            </a:endParaRPr>
          </a:p>
        </p:txBody>
      </p:sp>
      <p:sp>
        <p:nvSpPr>
          <p:cNvPr id="169" name="Google Shape;169;p9"/>
          <p:cNvSpPr/>
          <p:nvPr/>
        </p:nvSpPr>
        <p:spPr>
          <a:xfrm>
            <a:off x="640080" y="6035040"/>
            <a:ext cx="10972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7682"/>
              </a:buClr>
              <a:buSzPts val="1350"/>
              <a:buFont typeface="Calibri"/>
              <a:buNone/>
            </a:pPr>
            <a:r>
              <a:rPr b="0" i="1" lang="en-US" sz="1350" u="none" cap="none" strike="noStrike">
                <a:solidFill>
                  <a:srgbClr val="5B7682"/>
                </a:solidFill>
                <a:latin typeface="Calibri"/>
                <a:ea typeface="Calibri"/>
                <a:cs typeface="Calibri"/>
                <a:sym typeface="Calibri"/>
              </a:rPr>
              <a:t>Eurowings, Ryanair und Condor fliegen diese Strecke direkt.</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0"/>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WAS ES KOSTET</a:t>
            </a:r>
            <a:endParaRPr b="0" i="0" sz="1250" u="none" cap="none" strike="noStrike">
              <a:solidFill>
                <a:schemeClr val="dk1"/>
              </a:solidFill>
              <a:latin typeface="Calibri"/>
              <a:ea typeface="Calibri"/>
              <a:cs typeface="Calibri"/>
              <a:sym typeface="Calibri"/>
            </a:endParaRPr>
          </a:p>
        </p:txBody>
      </p:sp>
      <p:sp>
        <p:nvSpPr>
          <p:cNvPr id="176" name="Google Shape;176;p10"/>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Wir bleiben unter 350 € pro Person</a:t>
            </a:r>
            <a:endParaRPr b="0" i="0" sz="3100" u="none" cap="none" strike="noStrike">
              <a:solidFill>
                <a:schemeClr val="dk1"/>
              </a:solidFill>
              <a:latin typeface="Calibri"/>
              <a:ea typeface="Calibri"/>
              <a:cs typeface="Calibri"/>
              <a:sym typeface="Calibri"/>
            </a:endParaRPr>
          </a:p>
        </p:txBody>
      </p:sp>
      <p:sp>
        <p:nvSpPr>
          <p:cNvPr id="177" name="Google Shape;177;p10"/>
          <p:cNvSpPr/>
          <p:nvPr/>
        </p:nvSpPr>
        <p:spPr>
          <a:xfrm>
            <a:off x="640080" y="150876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682"/>
              </a:buClr>
              <a:buSzPts val="1550"/>
              <a:buFont typeface="Calibri"/>
              <a:buNone/>
            </a:pPr>
            <a:r>
              <a:rPr b="0" i="0" lang="en-US" sz="1550" u="none" cap="none" strike="noStrike">
                <a:solidFill>
                  <a:srgbClr val="5B7682"/>
                </a:solidFill>
                <a:latin typeface="Calibri"/>
                <a:ea typeface="Calibri"/>
                <a:cs typeface="Calibri"/>
                <a:sym typeface="Calibri"/>
              </a:rPr>
              <a:t>Sie hatten gesagt, dass es höchstens 350 € pro Person kosten darf. Wir haben nachgerechnet, und es geht sich aus.</a:t>
            </a:r>
            <a:endParaRPr b="0" i="0" sz="1550" u="none" cap="none" strike="noStrike">
              <a:solidFill>
                <a:schemeClr val="dk1"/>
              </a:solidFill>
              <a:latin typeface="Calibri"/>
              <a:ea typeface="Calibri"/>
              <a:cs typeface="Calibri"/>
              <a:sym typeface="Calibri"/>
            </a:endParaRPr>
          </a:p>
        </p:txBody>
      </p:sp>
      <p:graphicFrame>
        <p:nvGraphicFramePr>
          <p:cNvPr id="178" name="Google Shape;178;p10"/>
          <p:cNvGraphicFramePr/>
          <p:nvPr/>
        </p:nvGraphicFramePr>
        <p:xfrm>
          <a:off x="640080" y="2057400"/>
          <a:ext cx="3000000" cy="3000000"/>
        </p:xfrm>
        <a:graphic>
          <a:graphicData uri="http://schemas.openxmlformats.org/drawingml/2006/table">
            <a:tbl>
              <a:tblPr>
                <a:noFill/>
                <a:tableStyleId>{3011F8F3-DB60-49CB-BC6E-F00C86E82644}</a:tableStyleId>
              </a:tblPr>
              <a:tblGrid>
                <a:gridCol w="5074925"/>
                <a:gridCol w="2057400"/>
              </a:tblGrid>
              <a:tr h="512075">
                <a:tc>
                  <a:txBody>
                    <a:bodyPr/>
                    <a:lstStyle/>
                    <a:p>
                      <a:pPr indent="0" lvl="0" marL="0" marR="0" rtl="0" algn="l">
                        <a:spcBef>
                          <a:spcPts val="0"/>
                        </a:spcBef>
                        <a:spcAft>
                          <a:spcPts val="0"/>
                        </a:spcAft>
                        <a:buClr>
                          <a:srgbClr val="FFFFFF"/>
                        </a:buClr>
                        <a:buSzPts val="1500"/>
                        <a:buFont typeface="Calibri"/>
                        <a:buNone/>
                      </a:pPr>
                      <a:r>
                        <a:rPr b="1" lang="en-US" sz="1500" u="none" cap="none" strike="noStrike">
                          <a:solidFill>
                            <a:srgbClr val="FFFFFF"/>
                          </a:solidFill>
                          <a:latin typeface="Calibri"/>
                          <a:ea typeface="Calibri"/>
                          <a:cs typeface="Calibri"/>
                          <a:sym typeface="Calibri"/>
                        </a:rPr>
                        <a:t>Wofür</a:t>
                      </a:r>
                      <a:endParaRPr sz="15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0A4D68"/>
                    </a:solidFill>
                  </a:tcPr>
                </a:tc>
                <a:tc>
                  <a:txBody>
                    <a:bodyPr/>
                    <a:lstStyle/>
                    <a:p>
                      <a:pPr indent="0" lvl="0" marL="0" marR="0" rtl="0" algn="r">
                        <a:spcBef>
                          <a:spcPts val="0"/>
                        </a:spcBef>
                        <a:spcAft>
                          <a:spcPts val="0"/>
                        </a:spcAft>
                        <a:buClr>
                          <a:srgbClr val="FFFFFF"/>
                        </a:buClr>
                        <a:buSzPts val="1500"/>
                        <a:buFont typeface="Calibri"/>
                        <a:buNone/>
                      </a:pPr>
                      <a:r>
                        <a:rPr b="1" lang="en-US" sz="1500" u="none" cap="none" strike="noStrike">
                          <a:solidFill>
                            <a:srgbClr val="FFFFFF"/>
                          </a:solidFill>
                          <a:latin typeface="Calibri"/>
                          <a:ea typeface="Calibri"/>
                          <a:cs typeface="Calibri"/>
                          <a:sym typeface="Calibri"/>
                        </a:rPr>
                        <a:t>Kosten pro Person</a:t>
                      </a:r>
                      <a:endParaRPr sz="15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0A4D68"/>
                    </a:solidFill>
                  </a:tcPr>
                </a:tc>
              </a:tr>
              <a:tr h="512075">
                <a:tc>
                  <a:txBody>
                    <a:bodyPr/>
                    <a:lstStyle/>
                    <a:p>
                      <a:pPr indent="0" lvl="0" marL="0" marR="0" rtl="0" algn="l">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Flug hin und zurück (mit Koffer)</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ca. 130 bis 180 €</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FFFFF"/>
                    </a:solidFill>
                  </a:tcPr>
                </a:tc>
              </a:tr>
              <a:tr h="512075">
                <a:tc>
                  <a:txBody>
                    <a:bodyPr/>
                    <a:lstStyle/>
                    <a:p>
                      <a:pPr indent="0" lvl="0" marL="0" marR="0" rtl="0" algn="l">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4 Nächte Unterkunft (nur Übernachtung)</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2F6F7"/>
                    </a:solidFill>
                  </a:tcPr>
                </a:tc>
                <a:tc>
                  <a:txBody>
                    <a:bodyPr/>
                    <a:lstStyle/>
                    <a:p>
                      <a:pPr indent="0" lvl="0" marL="0" marR="0" rtl="0" algn="r">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ca. 80 €</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2F6F7"/>
                    </a:solidFill>
                  </a:tcPr>
                </a:tc>
              </a:tr>
              <a:tr h="512075">
                <a:tc>
                  <a:txBody>
                    <a:bodyPr/>
                    <a:lstStyle/>
                    <a:p>
                      <a:pPr indent="0" lvl="0" marL="0" marR="0" rtl="0" algn="l">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Fahrt vom Flughafen und zurück</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ca. 12 €</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FFFFF"/>
                    </a:solidFill>
                  </a:tcPr>
                </a:tc>
              </a:tr>
              <a:tr h="512075">
                <a:tc>
                  <a:txBody>
                    <a:bodyPr/>
                    <a:lstStyle/>
                    <a:p>
                      <a:pPr indent="0" lvl="0" marL="0" marR="0" rtl="0" algn="l">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Bus und Bahn vor Ort (5 Tage)</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2F6F7"/>
                    </a:solidFill>
                  </a:tcPr>
                </a:tc>
                <a:tc>
                  <a:txBody>
                    <a:bodyPr/>
                    <a:lstStyle/>
                    <a:p>
                      <a:pPr indent="0" lvl="0" marL="0" marR="0" rtl="0" algn="r">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ca. 25 €</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2F6F7"/>
                    </a:solidFill>
                  </a:tcPr>
                </a:tc>
              </a:tr>
              <a:tr h="512075">
                <a:tc>
                  <a:txBody>
                    <a:bodyPr/>
                    <a:lstStyle/>
                    <a:p>
                      <a:pPr indent="0" lvl="0" marL="0" marR="0" rtl="0" algn="l">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Eintritte und Programm</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0F2A38"/>
                        </a:buClr>
                        <a:buSzPts val="1400"/>
                        <a:buFont typeface="Calibri"/>
                        <a:buNone/>
                      </a:pPr>
                      <a:r>
                        <a:rPr lang="en-US" sz="1400" u="none" cap="none" strike="noStrike">
                          <a:solidFill>
                            <a:srgbClr val="0F2A38"/>
                          </a:solidFill>
                          <a:latin typeface="Calibri"/>
                          <a:ea typeface="Calibri"/>
                          <a:cs typeface="Calibri"/>
                          <a:sym typeface="Calibri"/>
                        </a:rPr>
                        <a:t>ca. 30 €</a:t>
                      </a:r>
                      <a:endParaRPr sz="140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FFFFFF"/>
                    </a:solidFill>
                  </a:tcPr>
                </a:tc>
              </a:tr>
              <a:tr h="512075">
                <a:tc>
                  <a:txBody>
                    <a:bodyPr/>
                    <a:lstStyle/>
                    <a:p>
                      <a:pPr indent="0" lvl="0" marL="0" marR="0" rtl="0" algn="l">
                        <a:spcBef>
                          <a:spcPts val="0"/>
                        </a:spcBef>
                        <a:spcAft>
                          <a:spcPts val="0"/>
                        </a:spcAft>
                        <a:buClr>
                          <a:srgbClr val="0F2A38"/>
                        </a:buClr>
                        <a:buSzPts val="1550"/>
                        <a:buFont typeface="Calibri"/>
                        <a:buNone/>
                      </a:pPr>
                      <a:r>
                        <a:rPr b="1" lang="en-US" sz="1550" u="none" cap="none" strike="noStrike">
                          <a:solidFill>
                            <a:srgbClr val="0F2A38"/>
                          </a:solidFill>
                          <a:latin typeface="Calibri"/>
                          <a:ea typeface="Calibri"/>
                          <a:cs typeface="Calibri"/>
                          <a:sym typeface="Calibri"/>
                        </a:rPr>
                        <a:t>Zusammen pro Person</a:t>
                      </a:r>
                      <a:endParaRPr sz="155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E9B44C"/>
                    </a:solidFill>
                  </a:tcPr>
                </a:tc>
                <a:tc>
                  <a:txBody>
                    <a:bodyPr/>
                    <a:lstStyle/>
                    <a:p>
                      <a:pPr indent="0" lvl="0" marL="0" marR="0" rtl="0" algn="r">
                        <a:spcBef>
                          <a:spcPts val="0"/>
                        </a:spcBef>
                        <a:spcAft>
                          <a:spcPts val="0"/>
                        </a:spcAft>
                        <a:buClr>
                          <a:srgbClr val="0F2A38"/>
                        </a:buClr>
                        <a:buSzPts val="1550"/>
                        <a:buFont typeface="Calibri"/>
                        <a:buNone/>
                      </a:pPr>
                      <a:r>
                        <a:rPr b="1" lang="en-US" sz="1550" u="none" cap="none" strike="noStrike">
                          <a:solidFill>
                            <a:srgbClr val="0F2A38"/>
                          </a:solidFill>
                          <a:latin typeface="Calibri"/>
                          <a:ea typeface="Calibri"/>
                          <a:cs typeface="Calibri"/>
                          <a:sym typeface="Calibri"/>
                        </a:rPr>
                        <a:t>ca. 275 bis 330 €</a:t>
                      </a:r>
                      <a:endParaRPr sz="1550" u="none" cap="none" strike="noStrike">
                        <a:latin typeface="Calibri"/>
                        <a:ea typeface="Calibri"/>
                        <a:cs typeface="Calibri"/>
                        <a:sym typeface="Calibri"/>
                      </a:endParaRPr>
                    </a:p>
                  </a:txBody>
                  <a:tcPr marT="50800" marB="50800" marR="88900" marL="88900" anchor="ctr">
                    <a:lnL cap="flat" cmpd="sng" w="9525">
                      <a:solidFill>
                        <a:srgbClr val="DCE6E9"/>
                      </a:solidFill>
                      <a:prstDash val="solid"/>
                      <a:round/>
                      <a:headEnd len="sm" w="sm" type="none"/>
                      <a:tailEnd len="sm" w="sm" type="none"/>
                    </a:lnL>
                    <a:lnR cap="flat" cmpd="sng" w="9525">
                      <a:solidFill>
                        <a:srgbClr val="DCE6E9"/>
                      </a:solidFill>
                      <a:prstDash val="solid"/>
                      <a:round/>
                      <a:headEnd len="sm" w="sm" type="none"/>
                      <a:tailEnd len="sm" w="sm" type="none"/>
                    </a:lnR>
                    <a:lnT cap="flat" cmpd="sng" w="9525">
                      <a:solidFill>
                        <a:srgbClr val="DCE6E9"/>
                      </a:solidFill>
                      <a:prstDash val="solid"/>
                      <a:round/>
                      <a:headEnd len="sm" w="sm" type="none"/>
                      <a:tailEnd len="sm" w="sm" type="none"/>
                    </a:lnT>
                    <a:lnB cap="flat" cmpd="sng" w="9525">
                      <a:solidFill>
                        <a:srgbClr val="DCE6E9"/>
                      </a:solidFill>
                      <a:prstDash val="solid"/>
                      <a:round/>
                      <a:headEnd len="sm" w="sm" type="none"/>
                      <a:tailEnd len="sm" w="sm" type="none"/>
                    </a:lnB>
                    <a:solidFill>
                      <a:srgbClr val="E9B44C"/>
                    </a:solidFill>
                  </a:tcPr>
                </a:tc>
              </a:tr>
            </a:tbl>
          </a:graphicData>
        </a:graphic>
      </p:graphicFrame>
      <p:sp>
        <p:nvSpPr>
          <p:cNvPr id="179" name="Google Shape;179;p10"/>
          <p:cNvSpPr/>
          <p:nvPr/>
        </p:nvSpPr>
        <p:spPr>
          <a:xfrm>
            <a:off x="8138160" y="2240280"/>
            <a:ext cx="3401568" cy="2286000"/>
          </a:xfrm>
          <a:prstGeom prst="roundRect">
            <a:avLst>
              <a:gd fmla="val 4800" name="adj"/>
            </a:avLst>
          </a:prstGeom>
          <a:solidFill>
            <a:srgbClr val="0A4D68"/>
          </a:solidFill>
          <a:ln>
            <a:noFill/>
          </a:ln>
          <a:effectLst>
            <a:outerShdw blurRad="114300" rotWithShape="0" algn="bl" dir="8100000" dist="38100">
              <a:srgbClr val="0A2A38">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9601200" y="2487168"/>
            <a:ext cx="548640" cy="548640"/>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1" name="Google Shape;181;p10"/>
          <p:cNvPicPr preferRelativeResize="0"/>
          <p:nvPr/>
        </p:nvPicPr>
        <p:blipFill rotWithShape="1">
          <a:blip r:embed="rId3">
            <a:alphaModFix/>
          </a:blip>
          <a:srcRect b="0" l="0" r="0" t="0"/>
          <a:stretch/>
        </p:blipFill>
        <p:spPr>
          <a:xfrm>
            <a:off x="9738360" y="2624328"/>
            <a:ext cx="274320" cy="274320"/>
          </a:xfrm>
          <a:prstGeom prst="rect">
            <a:avLst/>
          </a:prstGeom>
          <a:noFill/>
          <a:ln>
            <a:noFill/>
          </a:ln>
        </p:spPr>
      </p:pic>
      <p:sp>
        <p:nvSpPr>
          <p:cNvPr id="182" name="Google Shape;182;p10"/>
          <p:cNvSpPr/>
          <p:nvPr/>
        </p:nvSpPr>
        <p:spPr>
          <a:xfrm>
            <a:off x="8138160" y="3127248"/>
            <a:ext cx="340156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1AABF"/>
              </a:buClr>
              <a:buSzPts val="1500"/>
              <a:buFont typeface="Calibri"/>
              <a:buNone/>
            </a:pPr>
            <a:r>
              <a:rPr b="0" i="0" lang="en-US" sz="1500" u="none" cap="none" strike="noStrike">
                <a:solidFill>
                  <a:srgbClr val="41AABF"/>
                </a:solidFill>
                <a:latin typeface="Calibri"/>
                <a:ea typeface="Calibri"/>
                <a:cs typeface="Calibri"/>
                <a:sym typeface="Calibri"/>
              </a:rPr>
              <a:t>unter</a:t>
            </a:r>
            <a:endParaRPr b="0" i="0" sz="1500" u="none" cap="none" strike="noStrike">
              <a:solidFill>
                <a:schemeClr val="dk1"/>
              </a:solidFill>
              <a:latin typeface="Calibri"/>
              <a:ea typeface="Calibri"/>
              <a:cs typeface="Calibri"/>
              <a:sym typeface="Calibri"/>
            </a:endParaRPr>
          </a:p>
        </p:txBody>
      </p:sp>
      <p:sp>
        <p:nvSpPr>
          <p:cNvPr id="183" name="Google Shape;183;p10"/>
          <p:cNvSpPr/>
          <p:nvPr/>
        </p:nvSpPr>
        <p:spPr>
          <a:xfrm>
            <a:off x="8138160" y="3383280"/>
            <a:ext cx="3401568"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9B44C"/>
              </a:buClr>
              <a:buSzPts val="4800"/>
              <a:buFont typeface="Georgia"/>
              <a:buNone/>
            </a:pPr>
            <a:r>
              <a:rPr b="1" i="0" lang="en-US" sz="4800" u="none" cap="none" strike="noStrike">
                <a:solidFill>
                  <a:srgbClr val="E9B44C"/>
                </a:solidFill>
                <a:latin typeface="Georgia"/>
                <a:ea typeface="Georgia"/>
                <a:cs typeface="Georgia"/>
                <a:sym typeface="Georgia"/>
              </a:rPr>
              <a:t>350 €</a:t>
            </a:r>
            <a:endParaRPr b="0" i="0" sz="4800" u="none" cap="none" strike="noStrike">
              <a:solidFill>
                <a:schemeClr val="dk1"/>
              </a:solidFill>
              <a:latin typeface="Calibri"/>
              <a:ea typeface="Calibri"/>
              <a:cs typeface="Calibri"/>
              <a:sym typeface="Calibri"/>
            </a:endParaRPr>
          </a:p>
        </p:txBody>
      </p:sp>
      <p:sp>
        <p:nvSpPr>
          <p:cNvPr id="184" name="Google Shape;184;p10"/>
          <p:cNvSpPr/>
          <p:nvPr/>
        </p:nvSpPr>
        <p:spPr>
          <a:xfrm>
            <a:off x="8138160" y="4160520"/>
            <a:ext cx="340156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Das passt ins Budget</a:t>
            </a:r>
            <a:endParaRPr b="0" i="0" sz="1500" u="none" cap="none" strike="noStrike">
              <a:solidFill>
                <a:schemeClr val="dk1"/>
              </a:solidFill>
              <a:latin typeface="Calibri"/>
              <a:ea typeface="Calibri"/>
              <a:cs typeface="Calibri"/>
              <a:sym typeface="Calibri"/>
            </a:endParaRPr>
          </a:p>
        </p:txBody>
      </p:sp>
      <p:sp>
        <p:nvSpPr>
          <p:cNvPr id="185" name="Google Shape;185;p10"/>
          <p:cNvSpPr/>
          <p:nvPr/>
        </p:nvSpPr>
        <p:spPr>
          <a:xfrm>
            <a:off x="8138160" y="4754880"/>
            <a:ext cx="3401568" cy="91440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5B7682"/>
              </a:buClr>
              <a:buSzPts val="1300"/>
              <a:buFont typeface="Calibri"/>
              <a:buNone/>
            </a:pPr>
            <a:r>
              <a:rPr b="0" i="1" lang="en-US" sz="1300" u="none" cap="none" strike="noStrike">
                <a:solidFill>
                  <a:srgbClr val="5B7682"/>
                </a:solidFill>
                <a:latin typeface="Calibri"/>
                <a:ea typeface="Calibri"/>
                <a:cs typeface="Calibri"/>
                <a:sym typeface="Calibri"/>
              </a:rPr>
              <a:t>Das Essen ist hier nicht dabei. Das zahlt jeder selbst vom Taschengeld.</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11"/>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WAS ES KOSTET</a:t>
            </a:r>
            <a:endParaRPr b="0" i="0" sz="1250" u="none" cap="none" strike="noStrike">
              <a:solidFill>
                <a:schemeClr val="dk1"/>
              </a:solidFill>
              <a:latin typeface="Calibri"/>
              <a:ea typeface="Calibri"/>
              <a:cs typeface="Calibri"/>
              <a:sym typeface="Calibri"/>
            </a:endParaRPr>
          </a:p>
        </p:txBody>
      </p:sp>
      <p:sp>
        <p:nvSpPr>
          <p:cNvPr id="192" name="Google Shape;192;p11"/>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Wofür das Geld ausgegeben wird</a:t>
            </a:r>
            <a:endParaRPr b="0" i="0" sz="3100" u="none" cap="none" strike="noStrike">
              <a:solidFill>
                <a:schemeClr val="dk1"/>
              </a:solidFill>
              <a:latin typeface="Calibri"/>
              <a:ea typeface="Calibri"/>
              <a:cs typeface="Calibri"/>
              <a:sym typeface="Calibri"/>
            </a:endParaRPr>
          </a:p>
        </p:txBody>
      </p:sp>
      <p:pic>
        <p:nvPicPr>
          <p:cNvPr id="193" name="Google Shape;193;p11"/>
          <p:cNvPicPr preferRelativeResize="0"/>
          <p:nvPr/>
        </p:nvPicPr>
        <p:blipFill rotWithShape="1">
          <a:blip r:embed="rId3">
            <a:alphaModFix/>
          </a:blip>
          <a:srcRect b="0" l="0" r="0" t="0"/>
          <a:stretch/>
        </p:blipFill>
        <p:spPr>
          <a:xfrm>
            <a:off x="548640" y="1783080"/>
            <a:ext cx="6949440" cy="4297680"/>
          </a:xfrm>
          <a:prstGeom prst="rect">
            <a:avLst/>
          </a:prstGeom>
          <a:noFill/>
          <a:ln>
            <a:noFill/>
          </a:ln>
        </p:spPr>
      </p:pic>
      <p:sp>
        <p:nvSpPr>
          <p:cNvPr id="194" name="Google Shape;194;p11"/>
          <p:cNvSpPr/>
          <p:nvPr/>
        </p:nvSpPr>
        <p:spPr>
          <a:xfrm>
            <a:off x="7909560" y="1783080"/>
            <a:ext cx="3639312" cy="3063240"/>
          </a:xfrm>
          <a:prstGeom prst="roundRect">
            <a:avLst>
              <a:gd fmla="val 3582" name="adj"/>
            </a:avLst>
          </a:prstGeom>
          <a:solidFill>
            <a:srgbClr val="0A4D68"/>
          </a:solidFill>
          <a:ln>
            <a:noFill/>
          </a:ln>
          <a:effectLst>
            <a:outerShdw blurRad="114300" rotWithShape="0" algn="bl" dir="8100000" dist="38100">
              <a:srgbClr val="0A2A38">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1"/>
          <p:cNvSpPr/>
          <p:nvPr/>
        </p:nvSpPr>
        <p:spPr>
          <a:xfrm>
            <a:off x="8183880" y="205740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1AABF"/>
              </a:buClr>
              <a:buSzPts val="1450"/>
              <a:buFont typeface="Calibri"/>
              <a:buNone/>
            </a:pPr>
            <a:r>
              <a:rPr b="0" i="0" lang="en-US" sz="1450" u="none" cap="none" strike="noStrike">
                <a:solidFill>
                  <a:srgbClr val="41AABF"/>
                </a:solidFill>
                <a:latin typeface="Calibri"/>
                <a:ea typeface="Calibri"/>
                <a:cs typeface="Calibri"/>
                <a:sym typeface="Calibri"/>
              </a:rPr>
              <a:t>Zusammen pro Person</a:t>
            </a:r>
            <a:endParaRPr b="0" i="0" sz="1450" u="none" cap="none" strike="noStrike">
              <a:solidFill>
                <a:schemeClr val="dk1"/>
              </a:solidFill>
              <a:latin typeface="Calibri"/>
              <a:ea typeface="Calibri"/>
              <a:cs typeface="Calibri"/>
              <a:sym typeface="Calibri"/>
            </a:endParaRPr>
          </a:p>
        </p:txBody>
      </p:sp>
      <p:sp>
        <p:nvSpPr>
          <p:cNvPr id="196" name="Google Shape;196;p11"/>
          <p:cNvSpPr/>
          <p:nvPr/>
        </p:nvSpPr>
        <p:spPr>
          <a:xfrm>
            <a:off x="8183880" y="2377440"/>
            <a:ext cx="31089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600"/>
              <a:buFont typeface="Georgia"/>
              <a:buNone/>
            </a:pPr>
            <a:r>
              <a:rPr b="1" i="0" lang="en-US" sz="4600" u="none" cap="none" strike="noStrike">
                <a:solidFill>
                  <a:srgbClr val="FFFFFF"/>
                </a:solidFill>
                <a:latin typeface="Georgia"/>
                <a:ea typeface="Georgia"/>
                <a:cs typeface="Georgia"/>
                <a:sym typeface="Georgia"/>
              </a:rPr>
              <a:t>ca. 307 €</a:t>
            </a:r>
            <a:endParaRPr b="0" i="0" sz="4600" u="none" cap="none" strike="noStrike">
              <a:solidFill>
                <a:schemeClr val="dk1"/>
              </a:solidFill>
              <a:latin typeface="Calibri"/>
              <a:ea typeface="Calibri"/>
              <a:cs typeface="Calibri"/>
              <a:sym typeface="Calibri"/>
            </a:endParaRPr>
          </a:p>
        </p:txBody>
      </p:sp>
      <p:cxnSp>
        <p:nvCxnSpPr>
          <p:cNvPr id="197" name="Google Shape;197;p11"/>
          <p:cNvCxnSpPr/>
          <p:nvPr/>
        </p:nvCxnSpPr>
        <p:spPr>
          <a:xfrm>
            <a:off x="8183880" y="3337560"/>
            <a:ext cx="3108960" cy="0"/>
          </a:xfrm>
          <a:prstGeom prst="straightConnector1">
            <a:avLst/>
          </a:prstGeom>
          <a:noFill/>
          <a:ln cap="flat" cmpd="sng" w="12700">
            <a:solidFill>
              <a:srgbClr val="088395"/>
            </a:solidFill>
            <a:prstDash val="solid"/>
            <a:round/>
            <a:headEnd len="sm" w="sm" type="none"/>
            <a:tailEnd len="sm" w="sm" type="none"/>
          </a:ln>
        </p:spPr>
      </p:cxnSp>
      <p:sp>
        <p:nvSpPr>
          <p:cNvPr id="198" name="Google Shape;198;p11"/>
          <p:cNvSpPr/>
          <p:nvPr/>
        </p:nvSpPr>
        <p:spPr>
          <a:xfrm>
            <a:off x="8183880" y="352044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D8E0"/>
              </a:buClr>
              <a:buSzPts val="1400"/>
              <a:buFont typeface="Calibri"/>
              <a:buNone/>
            </a:pPr>
            <a:r>
              <a:rPr b="0" i="0" lang="en-US" sz="1400" u="none" cap="none" strike="noStrike">
                <a:solidFill>
                  <a:srgbClr val="BFD8E0"/>
                </a:solidFill>
                <a:latin typeface="Calibri"/>
                <a:ea typeface="Calibri"/>
                <a:cs typeface="Calibri"/>
                <a:sym typeface="Calibri"/>
              </a:rPr>
              <a:t>Erlaubt sind    </a:t>
            </a:r>
            <a:r>
              <a:rPr b="1" i="0" lang="en-US" sz="1400" u="none" cap="none" strike="noStrike">
                <a:solidFill>
                  <a:srgbClr val="FFFFFF"/>
                </a:solidFill>
                <a:latin typeface="Calibri"/>
                <a:ea typeface="Calibri"/>
                <a:cs typeface="Calibri"/>
                <a:sym typeface="Calibri"/>
              </a:rPr>
              <a:t>350 €</a:t>
            </a:r>
            <a:endParaRPr b="0" i="0" sz="1400" u="none" cap="none" strike="noStrike">
              <a:solidFill>
                <a:schemeClr val="dk1"/>
              </a:solidFill>
              <a:latin typeface="Calibri"/>
              <a:ea typeface="Calibri"/>
              <a:cs typeface="Calibri"/>
              <a:sym typeface="Calibri"/>
            </a:endParaRPr>
          </a:p>
        </p:txBody>
      </p:sp>
      <p:sp>
        <p:nvSpPr>
          <p:cNvPr id="199" name="Google Shape;199;p11"/>
          <p:cNvSpPr/>
          <p:nvPr/>
        </p:nvSpPr>
        <p:spPr>
          <a:xfrm>
            <a:off x="8183880" y="393192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D8E0"/>
              </a:buClr>
              <a:buSzPts val="1400"/>
              <a:buFont typeface="Calibri"/>
              <a:buNone/>
            </a:pPr>
            <a:r>
              <a:rPr b="0" i="0" lang="en-US" sz="1400" u="none" cap="none" strike="noStrike">
                <a:solidFill>
                  <a:srgbClr val="BFD8E0"/>
                </a:solidFill>
                <a:latin typeface="Calibri"/>
                <a:ea typeface="Calibri"/>
                <a:cs typeface="Calibri"/>
                <a:sym typeface="Calibri"/>
              </a:rPr>
              <a:t>Wir liegen    </a:t>
            </a:r>
            <a:r>
              <a:rPr b="1" i="0" lang="en-US" sz="1400" u="none" cap="none" strike="noStrike">
                <a:solidFill>
                  <a:srgbClr val="E9B44C"/>
                </a:solidFill>
                <a:latin typeface="Calibri"/>
                <a:ea typeface="Calibri"/>
                <a:cs typeface="Calibri"/>
                <a:sym typeface="Calibri"/>
              </a:rPr>
              <a:t>ca. 43 € darunter</a:t>
            </a:r>
            <a:endParaRPr b="0" i="0" sz="1400" u="none" cap="none" strike="noStrike">
              <a:solidFill>
                <a:schemeClr val="dk1"/>
              </a:solidFill>
              <a:latin typeface="Calibri"/>
              <a:ea typeface="Calibri"/>
              <a:cs typeface="Calibri"/>
              <a:sym typeface="Calibri"/>
            </a:endParaRPr>
          </a:p>
        </p:txBody>
      </p:sp>
      <p:sp>
        <p:nvSpPr>
          <p:cNvPr id="200" name="Google Shape;200;p11"/>
          <p:cNvSpPr/>
          <p:nvPr/>
        </p:nvSpPr>
        <p:spPr>
          <a:xfrm>
            <a:off x="7909560" y="4983480"/>
            <a:ext cx="3639312" cy="1051560"/>
          </a:xfrm>
          <a:prstGeom prst="roundRect">
            <a:avLst>
              <a:gd fmla="val 8696"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a:off x="8138160" y="5074920"/>
            <a:ext cx="3200400" cy="86868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5B7682"/>
              </a:buClr>
              <a:buSzPts val="1250"/>
              <a:buFont typeface="Calibri"/>
              <a:buNone/>
            </a:pPr>
            <a:r>
              <a:rPr b="0" i="0" lang="en-US" sz="1250" u="none" cap="none" strike="noStrike">
                <a:solidFill>
                  <a:srgbClr val="5B7682"/>
                </a:solidFill>
                <a:latin typeface="Calibri"/>
                <a:ea typeface="Calibri"/>
                <a:cs typeface="Calibri"/>
                <a:sym typeface="Calibri"/>
              </a:rPr>
              <a:t>Wenn wir noch Frühstück dazunehmen (ca. 4 € pro Nacht), bleiben wir trotzdem unter 350 €.</a:t>
            </a:r>
            <a:endParaRPr b="0" i="0" sz="1250" u="none" cap="none" strike="noStrike">
              <a:solidFill>
                <a:schemeClr val="dk1"/>
              </a:solidFill>
              <a:latin typeface="Calibri"/>
              <a:ea typeface="Calibri"/>
              <a:cs typeface="Calibri"/>
              <a:sym typeface="Calibri"/>
            </a:endParaRPr>
          </a:p>
        </p:txBody>
      </p:sp>
      <p:sp>
        <p:nvSpPr>
          <p:cNvPr id="202" name="Google Shape;202;p11"/>
          <p:cNvSpPr/>
          <p:nvPr/>
        </p:nvSpPr>
        <p:spPr>
          <a:xfrm>
            <a:off x="548640" y="6172200"/>
            <a:ext cx="6949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7682"/>
              </a:buClr>
              <a:buSzPts val="1250"/>
              <a:buFont typeface="Calibri"/>
              <a:buNone/>
            </a:pPr>
            <a:r>
              <a:rPr b="0" i="1" lang="en-US" sz="1250" u="none" cap="none" strike="noStrike">
                <a:solidFill>
                  <a:srgbClr val="5B7682"/>
                </a:solidFill>
                <a:latin typeface="Calibri"/>
                <a:ea typeface="Calibri"/>
                <a:cs typeface="Calibri"/>
                <a:sym typeface="Calibri"/>
              </a:rPr>
              <a:t>Das Essen zahlt jeder selbst, es ist im Preis nicht dabei.</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sp>
        <p:nvSpPr>
          <p:cNvPr id="208" name="Google Shape;208;p12"/>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SO KÖNNTE DIE WOCHE AUSSEHEN</a:t>
            </a:r>
            <a:endParaRPr b="0" i="0" sz="1250" u="none" cap="none" strike="noStrike">
              <a:solidFill>
                <a:schemeClr val="dk1"/>
              </a:solidFill>
              <a:latin typeface="Calibri"/>
              <a:ea typeface="Calibri"/>
              <a:cs typeface="Calibri"/>
              <a:sym typeface="Calibri"/>
            </a:endParaRPr>
          </a:p>
        </p:txBody>
      </p:sp>
      <p:sp>
        <p:nvSpPr>
          <p:cNvPr id="209" name="Google Shape;209;p12"/>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Unser Plan für die fünf Tage</a:t>
            </a:r>
            <a:endParaRPr b="0" i="0" sz="3100" u="none" cap="none" strike="noStrike">
              <a:solidFill>
                <a:schemeClr val="dk1"/>
              </a:solidFill>
              <a:latin typeface="Calibri"/>
              <a:ea typeface="Calibri"/>
              <a:cs typeface="Calibri"/>
              <a:sym typeface="Calibri"/>
            </a:endParaRPr>
          </a:p>
        </p:txBody>
      </p:sp>
      <p:sp>
        <p:nvSpPr>
          <p:cNvPr id="210" name="Google Shape;210;p12"/>
          <p:cNvSpPr/>
          <p:nvPr/>
        </p:nvSpPr>
        <p:spPr>
          <a:xfrm>
            <a:off x="640080" y="1783080"/>
            <a:ext cx="10908792" cy="768096"/>
          </a:xfrm>
          <a:prstGeom prst="roundRect">
            <a:avLst>
              <a:gd fmla="val 8333"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
          <p:cNvSpPr/>
          <p:nvPr/>
        </p:nvSpPr>
        <p:spPr>
          <a:xfrm>
            <a:off x="640080" y="1783080"/>
            <a:ext cx="1417320" cy="768096"/>
          </a:xfrm>
          <a:prstGeom prst="rect">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2"/>
          <p:cNvSpPr/>
          <p:nvPr/>
        </p:nvSpPr>
        <p:spPr>
          <a:xfrm>
            <a:off x="640080" y="1783080"/>
            <a:ext cx="1417320" cy="7680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Georgia"/>
              <a:buNone/>
            </a:pPr>
            <a:r>
              <a:rPr b="1" i="0" lang="en-US" sz="1900" u="none" cap="none" strike="noStrike">
                <a:solidFill>
                  <a:srgbClr val="FFFFFF"/>
                </a:solidFill>
                <a:latin typeface="Georgia"/>
                <a:ea typeface="Georgia"/>
                <a:cs typeface="Georgia"/>
                <a:sym typeface="Georgia"/>
              </a:rPr>
              <a:t>Tag 1</a:t>
            </a:r>
            <a:endParaRPr b="0" i="0" sz="1900" u="none" cap="none" strike="noStrike">
              <a:solidFill>
                <a:schemeClr val="dk1"/>
              </a:solidFill>
              <a:latin typeface="Calibri"/>
              <a:ea typeface="Calibri"/>
              <a:cs typeface="Calibri"/>
              <a:sym typeface="Calibri"/>
            </a:endParaRPr>
          </a:p>
        </p:txBody>
      </p:sp>
      <p:sp>
        <p:nvSpPr>
          <p:cNvPr id="213" name="Google Shape;213;p12"/>
          <p:cNvSpPr/>
          <p:nvPr/>
        </p:nvSpPr>
        <p:spPr>
          <a:xfrm>
            <a:off x="2331720" y="1920240"/>
            <a:ext cx="493776" cy="493776"/>
          </a:xfrm>
          <a:prstGeom prst="ellipse">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4" name="Google Shape;214;p12"/>
          <p:cNvPicPr preferRelativeResize="0"/>
          <p:nvPr/>
        </p:nvPicPr>
        <p:blipFill rotWithShape="1">
          <a:blip r:embed="rId3">
            <a:alphaModFix/>
          </a:blip>
          <a:srcRect b="0" l="0" r="0" t="0"/>
          <a:stretch/>
        </p:blipFill>
        <p:spPr>
          <a:xfrm>
            <a:off x="2455164" y="2043684"/>
            <a:ext cx="246888" cy="246888"/>
          </a:xfrm>
          <a:prstGeom prst="rect">
            <a:avLst/>
          </a:prstGeom>
          <a:noFill/>
          <a:ln>
            <a:noFill/>
          </a:ln>
        </p:spPr>
      </p:pic>
      <p:sp>
        <p:nvSpPr>
          <p:cNvPr id="215" name="Google Shape;215;p12"/>
          <p:cNvSpPr/>
          <p:nvPr/>
        </p:nvSpPr>
        <p:spPr>
          <a:xfrm>
            <a:off x="3017520" y="1874520"/>
            <a:ext cx="26517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650"/>
              <a:buFont typeface="Georgia"/>
              <a:buNone/>
            </a:pPr>
            <a:r>
              <a:rPr b="1" i="0" lang="en-US" sz="1650" u="none" cap="none" strike="noStrike">
                <a:solidFill>
                  <a:srgbClr val="0F2A38"/>
                </a:solidFill>
                <a:latin typeface="Georgia"/>
                <a:ea typeface="Georgia"/>
                <a:cs typeface="Georgia"/>
                <a:sym typeface="Georgia"/>
              </a:rPr>
              <a:t>Ankommen</a:t>
            </a:r>
            <a:endParaRPr b="0" i="0" sz="1650" u="none" cap="none" strike="noStrike">
              <a:solidFill>
                <a:schemeClr val="dk1"/>
              </a:solidFill>
              <a:latin typeface="Calibri"/>
              <a:ea typeface="Calibri"/>
              <a:cs typeface="Calibri"/>
              <a:sym typeface="Calibri"/>
            </a:endParaRPr>
          </a:p>
        </p:txBody>
      </p:sp>
      <p:sp>
        <p:nvSpPr>
          <p:cNvPr id="216" name="Google Shape;216;p12"/>
          <p:cNvSpPr/>
          <p:nvPr/>
        </p:nvSpPr>
        <p:spPr>
          <a:xfrm>
            <a:off x="5760720" y="1856232"/>
            <a:ext cx="56692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Hinflug am Morgen, Fahrt zur Unterkunft und ein erster Spaziergang am Strand von Playa de Palma.</a:t>
            </a:r>
            <a:endParaRPr b="0" i="0" sz="1350" u="none" cap="none" strike="noStrike">
              <a:solidFill>
                <a:schemeClr val="dk1"/>
              </a:solidFill>
              <a:latin typeface="Calibri"/>
              <a:ea typeface="Calibri"/>
              <a:cs typeface="Calibri"/>
              <a:sym typeface="Calibri"/>
            </a:endParaRPr>
          </a:p>
        </p:txBody>
      </p:sp>
      <p:sp>
        <p:nvSpPr>
          <p:cNvPr id="217" name="Google Shape;217;p12"/>
          <p:cNvSpPr/>
          <p:nvPr/>
        </p:nvSpPr>
        <p:spPr>
          <a:xfrm>
            <a:off x="640080" y="2660904"/>
            <a:ext cx="10908792" cy="768096"/>
          </a:xfrm>
          <a:prstGeom prst="roundRect">
            <a:avLst>
              <a:gd fmla="val 8333"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2"/>
          <p:cNvSpPr/>
          <p:nvPr/>
        </p:nvSpPr>
        <p:spPr>
          <a:xfrm>
            <a:off x="640080" y="2660904"/>
            <a:ext cx="1417320" cy="768096"/>
          </a:xfrm>
          <a:prstGeom prst="rect">
            <a:avLst/>
          </a:prstGeom>
          <a:solidFill>
            <a:srgbClr val="0883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2"/>
          <p:cNvSpPr/>
          <p:nvPr/>
        </p:nvSpPr>
        <p:spPr>
          <a:xfrm>
            <a:off x="640080" y="2660904"/>
            <a:ext cx="1417320" cy="7680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Georgia"/>
              <a:buNone/>
            </a:pPr>
            <a:r>
              <a:rPr b="1" i="0" lang="en-US" sz="1900" u="none" cap="none" strike="noStrike">
                <a:solidFill>
                  <a:srgbClr val="FFFFFF"/>
                </a:solidFill>
                <a:latin typeface="Georgia"/>
                <a:ea typeface="Georgia"/>
                <a:cs typeface="Georgia"/>
                <a:sym typeface="Georgia"/>
              </a:rPr>
              <a:t>Tag 2</a:t>
            </a:r>
            <a:endParaRPr b="0" i="0" sz="1900" u="none" cap="none" strike="noStrike">
              <a:solidFill>
                <a:schemeClr val="dk1"/>
              </a:solidFill>
              <a:latin typeface="Calibri"/>
              <a:ea typeface="Calibri"/>
              <a:cs typeface="Calibri"/>
              <a:sym typeface="Calibri"/>
            </a:endParaRPr>
          </a:p>
        </p:txBody>
      </p:sp>
      <p:sp>
        <p:nvSpPr>
          <p:cNvPr id="220" name="Google Shape;220;p12"/>
          <p:cNvSpPr/>
          <p:nvPr/>
        </p:nvSpPr>
        <p:spPr>
          <a:xfrm>
            <a:off x="2331720" y="2798064"/>
            <a:ext cx="493776" cy="493776"/>
          </a:xfrm>
          <a:prstGeom prst="ellipse">
            <a:avLst/>
          </a:prstGeom>
          <a:solidFill>
            <a:srgbClr val="0883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1" name="Google Shape;221;p12"/>
          <p:cNvPicPr preferRelativeResize="0"/>
          <p:nvPr/>
        </p:nvPicPr>
        <p:blipFill rotWithShape="1">
          <a:blip r:embed="rId4">
            <a:alphaModFix/>
          </a:blip>
          <a:srcRect b="0" l="0" r="0" t="0"/>
          <a:stretch/>
        </p:blipFill>
        <p:spPr>
          <a:xfrm>
            <a:off x="2455164" y="2921508"/>
            <a:ext cx="246888" cy="246888"/>
          </a:xfrm>
          <a:prstGeom prst="rect">
            <a:avLst/>
          </a:prstGeom>
          <a:noFill/>
          <a:ln>
            <a:noFill/>
          </a:ln>
        </p:spPr>
      </p:pic>
      <p:sp>
        <p:nvSpPr>
          <p:cNvPr id="222" name="Google Shape;222;p12"/>
          <p:cNvSpPr/>
          <p:nvPr/>
        </p:nvSpPr>
        <p:spPr>
          <a:xfrm>
            <a:off x="3017520" y="2752344"/>
            <a:ext cx="26517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650"/>
              <a:buFont typeface="Georgia"/>
              <a:buNone/>
            </a:pPr>
            <a:r>
              <a:rPr b="1" i="0" lang="en-US" sz="1650" u="none" cap="none" strike="noStrike">
                <a:solidFill>
                  <a:srgbClr val="0F2A38"/>
                </a:solidFill>
                <a:latin typeface="Georgia"/>
                <a:ea typeface="Georgia"/>
                <a:cs typeface="Georgia"/>
                <a:sym typeface="Georgia"/>
              </a:rPr>
              <a:t>Palma ansehen</a:t>
            </a:r>
            <a:endParaRPr b="0" i="0" sz="1650" u="none" cap="none" strike="noStrike">
              <a:solidFill>
                <a:schemeClr val="dk1"/>
              </a:solidFill>
              <a:latin typeface="Calibri"/>
              <a:ea typeface="Calibri"/>
              <a:cs typeface="Calibri"/>
              <a:sym typeface="Calibri"/>
            </a:endParaRPr>
          </a:p>
        </p:txBody>
      </p:sp>
      <p:sp>
        <p:nvSpPr>
          <p:cNvPr id="223" name="Google Shape;223;p12"/>
          <p:cNvSpPr/>
          <p:nvPr/>
        </p:nvSpPr>
        <p:spPr>
          <a:xfrm>
            <a:off x="5760720" y="2734056"/>
            <a:ext cx="56692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Vormittags die Kathedrale und die Altstadt, dann der Markt mit einer Spanisch-Aufgabe, nachmittags die Burg Bellver.</a:t>
            </a:r>
            <a:endParaRPr b="0" i="0" sz="1350" u="none" cap="none" strike="noStrike">
              <a:solidFill>
                <a:schemeClr val="dk1"/>
              </a:solidFill>
              <a:latin typeface="Calibri"/>
              <a:ea typeface="Calibri"/>
              <a:cs typeface="Calibri"/>
              <a:sym typeface="Calibri"/>
            </a:endParaRPr>
          </a:p>
        </p:txBody>
      </p:sp>
      <p:sp>
        <p:nvSpPr>
          <p:cNvPr id="224" name="Google Shape;224;p12"/>
          <p:cNvSpPr/>
          <p:nvPr/>
        </p:nvSpPr>
        <p:spPr>
          <a:xfrm>
            <a:off x="640080" y="3538728"/>
            <a:ext cx="10908792" cy="768096"/>
          </a:xfrm>
          <a:prstGeom prst="roundRect">
            <a:avLst>
              <a:gd fmla="val 8333"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2"/>
          <p:cNvSpPr/>
          <p:nvPr/>
        </p:nvSpPr>
        <p:spPr>
          <a:xfrm>
            <a:off x="640080" y="3538728"/>
            <a:ext cx="1417320" cy="768096"/>
          </a:xfrm>
          <a:prstGeom prst="rect">
            <a:avLst/>
          </a:prstGeom>
          <a:solidFill>
            <a:srgbClr val="C049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
          <p:cNvSpPr/>
          <p:nvPr/>
        </p:nvSpPr>
        <p:spPr>
          <a:xfrm>
            <a:off x="640080" y="3538728"/>
            <a:ext cx="1417320" cy="7680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Georgia"/>
              <a:buNone/>
            </a:pPr>
            <a:r>
              <a:rPr b="1" i="0" lang="en-US" sz="1900" u="none" cap="none" strike="noStrike">
                <a:solidFill>
                  <a:srgbClr val="FFFFFF"/>
                </a:solidFill>
                <a:latin typeface="Georgia"/>
                <a:ea typeface="Georgia"/>
                <a:cs typeface="Georgia"/>
                <a:sym typeface="Georgia"/>
              </a:rPr>
              <a:t>Tag 3</a:t>
            </a:r>
            <a:endParaRPr b="0" i="0" sz="1900" u="none" cap="none" strike="noStrike">
              <a:solidFill>
                <a:schemeClr val="dk1"/>
              </a:solidFill>
              <a:latin typeface="Calibri"/>
              <a:ea typeface="Calibri"/>
              <a:cs typeface="Calibri"/>
              <a:sym typeface="Calibri"/>
            </a:endParaRPr>
          </a:p>
        </p:txBody>
      </p:sp>
      <p:sp>
        <p:nvSpPr>
          <p:cNvPr id="227" name="Google Shape;227;p12"/>
          <p:cNvSpPr/>
          <p:nvPr/>
        </p:nvSpPr>
        <p:spPr>
          <a:xfrm>
            <a:off x="2331720" y="3675888"/>
            <a:ext cx="493776" cy="493776"/>
          </a:xfrm>
          <a:prstGeom prst="ellipse">
            <a:avLst/>
          </a:prstGeom>
          <a:solidFill>
            <a:srgbClr val="C049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8" name="Google Shape;228;p12"/>
          <p:cNvPicPr preferRelativeResize="0"/>
          <p:nvPr/>
        </p:nvPicPr>
        <p:blipFill rotWithShape="1">
          <a:blip r:embed="rId5">
            <a:alphaModFix/>
          </a:blip>
          <a:srcRect b="0" l="0" r="0" t="0"/>
          <a:stretch/>
        </p:blipFill>
        <p:spPr>
          <a:xfrm>
            <a:off x="2455164" y="3799332"/>
            <a:ext cx="246888" cy="246888"/>
          </a:xfrm>
          <a:prstGeom prst="rect">
            <a:avLst/>
          </a:prstGeom>
          <a:noFill/>
          <a:ln>
            <a:noFill/>
          </a:ln>
        </p:spPr>
      </p:pic>
      <p:sp>
        <p:nvSpPr>
          <p:cNvPr id="229" name="Google Shape;229;p12"/>
          <p:cNvSpPr/>
          <p:nvPr/>
        </p:nvSpPr>
        <p:spPr>
          <a:xfrm>
            <a:off x="3017520" y="3630168"/>
            <a:ext cx="26517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650"/>
              <a:buFont typeface="Georgia"/>
              <a:buNone/>
            </a:pPr>
            <a:r>
              <a:rPr b="1" i="0" lang="en-US" sz="1650" u="none" cap="none" strike="noStrike">
                <a:solidFill>
                  <a:srgbClr val="0F2A38"/>
                </a:solidFill>
                <a:latin typeface="Georgia"/>
                <a:ea typeface="Georgia"/>
                <a:cs typeface="Georgia"/>
                <a:sym typeface="Georgia"/>
              </a:rPr>
              <a:t>Römertag</a:t>
            </a:r>
            <a:endParaRPr b="0" i="0" sz="1650" u="none" cap="none" strike="noStrike">
              <a:solidFill>
                <a:schemeClr val="dk1"/>
              </a:solidFill>
              <a:latin typeface="Calibri"/>
              <a:ea typeface="Calibri"/>
              <a:cs typeface="Calibri"/>
              <a:sym typeface="Calibri"/>
            </a:endParaRPr>
          </a:p>
        </p:txBody>
      </p:sp>
      <p:sp>
        <p:nvSpPr>
          <p:cNvPr id="230" name="Google Shape;230;p12"/>
          <p:cNvSpPr/>
          <p:nvPr/>
        </p:nvSpPr>
        <p:spPr>
          <a:xfrm>
            <a:off x="5760720" y="3611880"/>
            <a:ext cx="56692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Mit dem Bus nach Pollentia, die Ruinen und das Museum ansehen, danach durch die Altstadt von Alcúdia.</a:t>
            </a:r>
            <a:endParaRPr b="0" i="0" sz="1350" u="none" cap="none" strike="noStrike">
              <a:solidFill>
                <a:schemeClr val="dk1"/>
              </a:solidFill>
              <a:latin typeface="Calibri"/>
              <a:ea typeface="Calibri"/>
              <a:cs typeface="Calibri"/>
              <a:sym typeface="Calibri"/>
            </a:endParaRPr>
          </a:p>
        </p:txBody>
      </p:sp>
      <p:sp>
        <p:nvSpPr>
          <p:cNvPr id="231" name="Google Shape;231;p12"/>
          <p:cNvSpPr/>
          <p:nvPr/>
        </p:nvSpPr>
        <p:spPr>
          <a:xfrm>
            <a:off x="640080" y="4416552"/>
            <a:ext cx="10908792" cy="768096"/>
          </a:xfrm>
          <a:prstGeom prst="roundRect">
            <a:avLst>
              <a:gd fmla="val 8333"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
          <p:cNvSpPr/>
          <p:nvPr/>
        </p:nvSpPr>
        <p:spPr>
          <a:xfrm>
            <a:off x="640080" y="4416552"/>
            <a:ext cx="1417320" cy="768096"/>
          </a:xfrm>
          <a:prstGeom prst="rect">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
          <p:cNvSpPr/>
          <p:nvPr/>
        </p:nvSpPr>
        <p:spPr>
          <a:xfrm>
            <a:off x="640080" y="4416552"/>
            <a:ext cx="1417320" cy="7680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Georgia"/>
              <a:buNone/>
            </a:pPr>
            <a:r>
              <a:rPr b="1" i="0" lang="en-US" sz="1900" u="none" cap="none" strike="noStrike">
                <a:solidFill>
                  <a:srgbClr val="FFFFFF"/>
                </a:solidFill>
                <a:latin typeface="Georgia"/>
                <a:ea typeface="Georgia"/>
                <a:cs typeface="Georgia"/>
                <a:sym typeface="Georgia"/>
              </a:rPr>
              <a:t>Tag 4</a:t>
            </a:r>
            <a:endParaRPr b="0" i="0" sz="1900" u="none" cap="none" strike="noStrike">
              <a:solidFill>
                <a:schemeClr val="dk1"/>
              </a:solidFill>
              <a:latin typeface="Calibri"/>
              <a:ea typeface="Calibri"/>
              <a:cs typeface="Calibri"/>
              <a:sym typeface="Calibri"/>
            </a:endParaRPr>
          </a:p>
        </p:txBody>
      </p:sp>
      <p:sp>
        <p:nvSpPr>
          <p:cNvPr id="234" name="Google Shape;234;p12"/>
          <p:cNvSpPr/>
          <p:nvPr/>
        </p:nvSpPr>
        <p:spPr>
          <a:xfrm>
            <a:off x="2331720" y="4553712"/>
            <a:ext cx="493776" cy="493776"/>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5" name="Google Shape;235;p12"/>
          <p:cNvPicPr preferRelativeResize="0"/>
          <p:nvPr/>
        </p:nvPicPr>
        <p:blipFill rotWithShape="1">
          <a:blip r:embed="rId6">
            <a:alphaModFix/>
          </a:blip>
          <a:srcRect b="0" l="0" r="0" t="0"/>
          <a:stretch/>
        </p:blipFill>
        <p:spPr>
          <a:xfrm>
            <a:off x="2455164" y="4677156"/>
            <a:ext cx="246888" cy="246888"/>
          </a:xfrm>
          <a:prstGeom prst="rect">
            <a:avLst/>
          </a:prstGeom>
          <a:noFill/>
          <a:ln>
            <a:noFill/>
          </a:ln>
        </p:spPr>
      </p:pic>
      <p:sp>
        <p:nvSpPr>
          <p:cNvPr id="236" name="Google Shape;236;p12"/>
          <p:cNvSpPr/>
          <p:nvPr/>
        </p:nvSpPr>
        <p:spPr>
          <a:xfrm>
            <a:off x="3017520" y="4507992"/>
            <a:ext cx="26517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650"/>
              <a:buFont typeface="Georgia"/>
              <a:buNone/>
            </a:pPr>
            <a:r>
              <a:rPr b="1" i="0" lang="en-US" sz="1650" u="none" cap="none" strike="noStrike">
                <a:solidFill>
                  <a:srgbClr val="0F2A38"/>
                </a:solidFill>
                <a:latin typeface="Georgia"/>
                <a:ea typeface="Georgia"/>
                <a:cs typeface="Georgia"/>
                <a:sym typeface="Georgia"/>
              </a:rPr>
              <a:t>Insel ansehen</a:t>
            </a:r>
            <a:endParaRPr b="0" i="0" sz="1650" u="none" cap="none" strike="noStrike">
              <a:solidFill>
                <a:schemeClr val="dk1"/>
              </a:solidFill>
              <a:latin typeface="Calibri"/>
              <a:ea typeface="Calibri"/>
              <a:cs typeface="Calibri"/>
              <a:sym typeface="Calibri"/>
            </a:endParaRPr>
          </a:p>
        </p:txBody>
      </p:sp>
      <p:sp>
        <p:nvSpPr>
          <p:cNvPr id="237" name="Google Shape;237;p12"/>
          <p:cNvSpPr/>
          <p:nvPr/>
        </p:nvSpPr>
        <p:spPr>
          <a:xfrm>
            <a:off x="5760720" y="4489704"/>
            <a:ext cx="56692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Ausflug nach Sóller mit der alten Bahn, vorbei an Orangenbäumen und den Bergen der Tramuntana.</a:t>
            </a:r>
            <a:endParaRPr b="0" i="0" sz="1350" u="none" cap="none" strike="noStrike">
              <a:solidFill>
                <a:schemeClr val="dk1"/>
              </a:solidFill>
              <a:latin typeface="Calibri"/>
              <a:ea typeface="Calibri"/>
              <a:cs typeface="Calibri"/>
              <a:sym typeface="Calibri"/>
            </a:endParaRPr>
          </a:p>
        </p:txBody>
      </p:sp>
      <p:sp>
        <p:nvSpPr>
          <p:cNvPr id="238" name="Google Shape;238;p12"/>
          <p:cNvSpPr/>
          <p:nvPr/>
        </p:nvSpPr>
        <p:spPr>
          <a:xfrm>
            <a:off x="640080" y="5294376"/>
            <a:ext cx="10908792" cy="768096"/>
          </a:xfrm>
          <a:prstGeom prst="roundRect">
            <a:avLst>
              <a:gd fmla="val 8333" name="adj"/>
            </a:avLst>
          </a:prstGeom>
          <a:solidFill>
            <a:srgbClr val="F2F6F7"/>
          </a:solidFill>
          <a:ln cap="flat" cmpd="sng" w="12700">
            <a:solidFill>
              <a:srgbClr val="DCE6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
          <p:cNvSpPr/>
          <p:nvPr/>
        </p:nvSpPr>
        <p:spPr>
          <a:xfrm>
            <a:off x="640080" y="5294376"/>
            <a:ext cx="1417320" cy="768096"/>
          </a:xfrm>
          <a:prstGeom prst="rect">
            <a:avLst/>
          </a:prstGeom>
          <a:solidFill>
            <a:srgbClr val="D98C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p:nvPr/>
        </p:nvSpPr>
        <p:spPr>
          <a:xfrm>
            <a:off x="640080" y="5294376"/>
            <a:ext cx="1417320" cy="7680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Georgia"/>
              <a:buNone/>
            </a:pPr>
            <a:r>
              <a:rPr b="1" i="0" lang="en-US" sz="1900" u="none" cap="none" strike="noStrike">
                <a:solidFill>
                  <a:srgbClr val="FFFFFF"/>
                </a:solidFill>
                <a:latin typeface="Georgia"/>
                <a:ea typeface="Georgia"/>
                <a:cs typeface="Georgia"/>
                <a:sym typeface="Georgia"/>
              </a:rPr>
              <a:t>Tag 5</a:t>
            </a:r>
            <a:endParaRPr b="0" i="0" sz="1900" u="none" cap="none" strike="noStrike">
              <a:solidFill>
                <a:schemeClr val="dk1"/>
              </a:solidFill>
              <a:latin typeface="Calibri"/>
              <a:ea typeface="Calibri"/>
              <a:cs typeface="Calibri"/>
              <a:sym typeface="Calibri"/>
            </a:endParaRPr>
          </a:p>
        </p:txBody>
      </p:sp>
      <p:sp>
        <p:nvSpPr>
          <p:cNvPr id="241" name="Google Shape;241;p12"/>
          <p:cNvSpPr/>
          <p:nvPr/>
        </p:nvSpPr>
        <p:spPr>
          <a:xfrm>
            <a:off x="2331720" y="5431536"/>
            <a:ext cx="493776" cy="493776"/>
          </a:xfrm>
          <a:prstGeom prst="ellipse">
            <a:avLst/>
          </a:prstGeom>
          <a:solidFill>
            <a:srgbClr val="D98C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2" name="Google Shape;242;p12"/>
          <p:cNvPicPr preferRelativeResize="0"/>
          <p:nvPr/>
        </p:nvPicPr>
        <p:blipFill rotWithShape="1">
          <a:blip r:embed="rId7">
            <a:alphaModFix/>
          </a:blip>
          <a:srcRect b="0" l="0" r="0" t="0"/>
          <a:stretch/>
        </p:blipFill>
        <p:spPr>
          <a:xfrm>
            <a:off x="2455164" y="5554980"/>
            <a:ext cx="246888" cy="246888"/>
          </a:xfrm>
          <a:prstGeom prst="rect">
            <a:avLst/>
          </a:prstGeom>
          <a:noFill/>
          <a:ln>
            <a:noFill/>
          </a:ln>
        </p:spPr>
      </p:pic>
      <p:sp>
        <p:nvSpPr>
          <p:cNvPr id="243" name="Google Shape;243;p12"/>
          <p:cNvSpPr/>
          <p:nvPr/>
        </p:nvSpPr>
        <p:spPr>
          <a:xfrm>
            <a:off x="3017520" y="5385816"/>
            <a:ext cx="265176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650"/>
              <a:buFont typeface="Georgia"/>
              <a:buNone/>
            </a:pPr>
            <a:r>
              <a:rPr b="1" i="0" lang="en-US" sz="1650" u="none" cap="none" strike="noStrike">
                <a:solidFill>
                  <a:srgbClr val="0F2A38"/>
                </a:solidFill>
                <a:latin typeface="Georgia"/>
                <a:ea typeface="Georgia"/>
                <a:cs typeface="Georgia"/>
                <a:sym typeface="Georgia"/>
              </a:rPr>
              <a:t>Abreise</a:t>
            </a:r>
            <a:endParaRPr b="0" i="0" sz="1650" u="none" cap="none" strike="noStrike">
              <a:solidFill>
                <a:schemeClr val="dk1"/>
              </a:solidFill>
              <a:latin typeface="Calibri"/>
              <a:ea typeface="Calibri"/>
              <a:cs typeface="Calibri"/>
              <a:sym typeface="Calibri"/>
            </a:endParaRPr>
          </a:p>
        </p:txBody>
      </p:sp>
      <p:sp>
        <p:nvSpPr>
          <p:cNvPr id="244" name="Google Shape;244;p12"/>
          <p:cNvSpPr/>
          <p:nvPr/>
        </p:nvSpPr>
        <p:spPr>
          <a:xfrm>
            <a:off x="5760720" y="5367528"/>
            <a:ext cx="56692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Vormittags noch frei für letzte Einkäufe, am Nachmittag geht der Rückflug nach Hause.</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sp>
        <p:nvSpPr>
          <p:cNvPr id="250" name="Google Shape;250;p13"/>
          <p:cNvSpPr/>
          <p:nvPr/>
        </p:nvSpPr>
        <p:spPr>
          <a:xfrm>
            <a:off x="640080" y="50292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GUT GEPLANT</a:t>
            </a:r>
            <a:endParaRPr b="0" i="0" sz="1250" u="none" cap="none" strike="noStrike">
              <a:solidFill>
                <a:schemeClr val="dk1"/>
              </a:solidFill>
              <a:latin typeface="Calibri"/>
              <a:ea typeface="Calibri"/>
              <a:cs typeface="Calibri"/>
              <a:sym typeface="Calibri"/>
            </a:endParaRPr>
          </a:p>
        </p:txBody>
      </p:sp>
      <p:sp>
        <p:nvSpPr>
          <p:cNvPr id="251" name="Google Shape;251;p13"/>
          <p:cNvSpPr/>
          <p:nvPr/>
        </p:nvSpPr>
        <p:spPr>
          <a:xfrm>
            <a:off x="640080" y="822960"/>
            <a:ext cx="109728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A4D68"/>
              </a:buClr>
              <a:buSzPts val="3100"/>
              <a:buFont typeface="Georgia"/>
              <a:buNone/>
            </a:pPr>
            <a:r>
              <a:rPr b="1" i="0" lang="en-US" sz="3100" u="none" cap="none" strike="noStrike">
                <a:solidFill>
                  <a:srgbClr val="0A4D68"/>
                </a:solidFill>
                <a:latin typeface="Georgia"/>
                <a:ea typeface="Georgia"/>
                <a:cs typeface="Georgia"/>
                <a:sym typeface="Georgia"/>
              </a:rPr>
              <a:t>Wir haben auch an die Sicherheit gedacht</a:t>
            </a:r>
            <a:endParaRPr b="0" i="0" sz="3100" u="none" cap="none" strike="noStrike">
              <a:solidFill>
                <a:schemeClr val="dk1"/>
              </a:solidFill>
              <a:latin typeface="Calibri"/>
              <a:ea typeface="Calibri"/>
              <a:cs typeface="Calibri"/>
              <a:sym typeface="Calibri"/>
            </a:endParaRPr>
          </a:p>
        </p:txBody>
      </p:sp>
      <p:sp>
        <p:nvSpPr>
          <p:cNvPr id="252" name="Google Shape;252;p13"/>
          <p:cNvSpPr/>
          <p:nvPr/>
        </p:nvSpPr>
        <p:spPr>
          <a:xfrm>
            <a:off x="640080" y="1783080"/>
            <a:ext cx="5349240" cy="1874520"/>
          </a:xfrm>
          <a:prstGeom prst="roundRect">
            <a:avLst>
              <a:gd fmla="val 3902" name="adj"/>
            </a:avLst>
          </a:prstGeom>
          <a:solidFill>
            <a:srgbClr val="FFFFFF"/>
          </a:solidFill>
          <a:ln cap="flat" cmpd="sng" w="12700">
            <a:solidFill>
              <a:srgbClr val="DCE6E9"/>
            </a:solidFill>
            <a:prstDash val="solid"/>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
          <p:cNvSpPr/>
          <p:nvPr/>
        </p:nvSpPr>
        <p:spPr>
          <a:xfrm>
            <a:off x="1005840" y="2258568"/>
            <a:ext cx="868680" cy="868680"/>
          </a:xfrm>
          <a:prstGeom prst="ellipse">
            <a:avLst/>
          </a:prstGeom>
          <a:solidFill>
            <a:srgbClr val="0A4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4" name="Google Shape;254;p13"/>
          <p:cNvPicPr preferRelativeResize="0"/>
          <p:nvPr/>
        </p:nvPicPr>
        <p:blipFill rotWithShape="1">
          <a:blip r:embed="rId3">
            <a:alphaModFix/>
          </a:blip>
          <a:srcRect b="0" l="0" r="0" t="0"/>
          <a:stretch/>
        </p:blipFill>
        <p:spPr>
          <a:xfrm>
            <a:off x="1223010" y="2475738"/>
            <a:ext cx="434340" cy="434340"/>
          </a:xfrm>
          <a:prstGeom prst="rect">
            <a:avLst/>
          </a:prstGeom>
          <a:noFill/>
          <a:ln>
            <a:noFill/>
          </a:ln>
        </p:spPr>
      </p:pic>
      <p:sp>
        <p:nvSpPr>
          <p:cNvPr id="255" name="Google Shape;255;p13"/>
          <p:cNvSpPr/>
          <p:nvPr/>
        </p:nvSpPr>
        <p:spPr>
          <a:xfrm>
            <a:off x="2103120" y="2148840"/>
            <a:ext cx="3611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700"/>
              <a:buFont typeface="Georgia"/>
              <a:buNone/>
            </a:pPr>
            <a:r>
              <a:rPr b="1" i="0" lang="en-US" sz="1700" u="none" cap="none" strike="noStrike">
                <a:solidFill>
                  <a:srgbClr val="0F2A38"/>
                </a:solidFill>
                <a:latin typeface="Georgia"/>
                <a:ea typeface="Georgia"/>
                <a:cs typeface="Georgia"/>
                <a:sym typeface="Georgia"/>
              </a:rPr>
              <a:t>Das Geld ist abgesichert</a:t>
            </a:r>
            <a:endParaRPr b="0" i="0" sz="1700" u="none" cap="none" strike="noStrike">
              <a:solidFill>
                <a:schemeClr val="dk1"/>
              </a:solidFill>
              <a:latin typeface="Calibri"/>
              <a:ea typeface="Calibri"/>
              <a:cs typeface="Calibri"/>
              <a:sym typeface="Calibri"/>
            </a:endParaRPr>
          </a:p>
        </p:txBody>
      </p:sp>
      <p:sp>
        <p:nvSpPr>
          <p:cNvPr id="256" name="Google Shape;256;p13"/>
          <p:cNvSpPr/>
          <p:nvPr/>
        </p:nvSpPr>
        <p:spPr>
          <a:xfrm>
            <a:off x="2103120" y="2606040"/>
            <a:ext cx="3611880" cy="96012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Über einen Reisepreissicherungsschein ist das eingezahlte Geld geschützt, falls die Reise doch einmal nicht klappt.</a:t>
            </a:r>
            <a:endParaRPr b="0" i="0" sz="1350" u="none" cap="none" strike="noStrike">
              <a:solidFill>
                <a:schemeClr val="dk1"/>
              </a:solidFill>
              <a:latin typeface="Calibri"/>
              <a:ea typeface="Calibri"/>
              <a:cs typeface="Calibri"/>
              <a:sym typeface="Calibri"/>
            </a:endParaRPr>
          </a:p>
        </p:txBody>
      </p:sp>
      <p:sp>
        <p:nvSpPr>
          <p:cNvPr id="257" name="Google Shape;257;p13"/>
          <p:cNvSpPr/>
          <p:nvPr/>
        </p:nvSpPr>
        <p:spPr>
          <a:xfrm>
            <a:off x="6291072" y="1783080"/>
            <a:ext cx="5349240" cy="1874520"/>
          </a:xfrm>
          <a:prstGeom prst="roundRect">
            <a:avLst>
              <a:gd fmla="val 3902" name="adj"/>
            </a:avLst>
          </a:prstGeom>
          <a:solidFill>
            <a:srgbClr val="FFFFFF"/>
          </a:solidFill>
          <a:ln cap="flat" cmpd="sng" w="12700">
            <a:solidFill>
              <a:srgbClr val="DCE6E9"/>
            </a:solidFill>
            <a:prstDash val="solid"/>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3"/>
          <p:cNvSpPr/>
          <p:nvPr/>
        </p:nvSpPr>
        <p:spPr>
          <a:xfrm>
            <a:off x="6656832" y="2258568"/>
            <a:ext cx="868680" cy="868680"/>
          </a:xfrm>
          <a:prstGeom prst="ellipse">
            <a:avLst/>
          </a:prstGeom>
          <a:solidFill>
            <a:srgbClr val="0883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9" name="Google Shape;259;p13"/>
          <p:cNvPicPr preferRelativeResize="0"/>
          <p:nvPr/>
        </p:nvPicPr>
        <p:blipFill rotWithShape="1">
          <a:blip r:embed="rId4">
            <a:alphaModFix/>
          </a:blip>
          <a:srcRect b="0" l="0" r="0" t="0"/>
          <a:stretch/>
        </p:blipFill>
        <p:spPr>
          <a:xfrm>
            <a:off x="6874002" y="2475738"/>
            <a:ext cx="434340" cy="434340"/>
          </a:xfrm>
          <a:prstGeom prst="rect">
            <a:avLst/>
          </a:prstGeom>
          <a:noFill/>
          <a:ln>
            <a:noFill/>
          </a:ln>
        </p:spPr>
      </p:pic>
      <p:sp>
        <p:nvSpPr>
          <p:cNvPr id="260" name="Google Shape;260;p13"/>
          <p:cNvSpPr/>
          <p:nvPr/>
        </p:nvSpPr>
        <p:spPr>
          <a:xfrm>
            <a:off x="7754112" y="2148840"/>
            <a:ext cx="3611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700"/>
              <a:buFont typeface="Georgia"/>
              <a:buNone/>
            </a:pPr>
            <a:r>
              <a:rPr b="1" i="0" lang="en-US" sz="1700" u="none" cap="none" strike="noStrike">
                <a:solidFill>
                  <a:srgbClr val="0F2A38"/>
                </a:solidFill>
                <a:latin typeface="Georgia"/>
                <a:ea typeface="Georgia"/>
                <a:cs typeface="Georgia"/>
                <a:sym typeface="Georgia"/>
              </a:rPr>
              <a:t>Fester Preis für die Gruppe</a:t>
            </a:r>
            <a:endParaRPr b="0" i="0" sz="1700" u="none" cap="none" strike="noStrike">
              <a:solidFill>
                <a:schemeClr val="dk1"/>
              </a:solidFill>
              <a:latin typeface="Calibri"/>
              <a:ea typeface="Calibri"/>
              <a:cs typeface="Calibri"/>
              <a:sym typeface="Calibri"/>
            </a:endParaRPr>
          </a:p>
        </p:txBody>
      </p:sp>
      <p:sp>
        <p:nvSpPr>
          <p:cNvPr id="261" name="Google Shape;261;p13"/>
          <p:cNvSpPr/>
          <p:nvPr/>
        </p:nvSpPr>
        <p:spPr>
          <a:xfrm>
            <a:off x="7754112" y="2606040"/>
            <a:ext cx="3611880" cy="96012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Ein Reiseanbieter plant Flug und Unterkunft für alle 65 zusammen, zu einem festen Preis ohne böse Überraschungen.</a:t>
            </a:r>
            <a:endParaRPr b="0" i="0" sz="1350" u="none" cap="none" strike="noStrike">
              <a:solidFill>
                <a:schemeClr val="dk1"/>
              </a:solidFill>
              <a:latin typeface="Calibri"/>
              <a:ea typeface="Calibri"/>
              <a:cs typeface="Calibri"/>
              <a:sym typeface="Calibri"/>
            </a:endParaRPr>
          </a:p>
        </p:txBody>
      </p:sp>
      <p:sp>
        <p:nvSpPr>
          <p:cNvPr id="262" name="Google Shape;262;p13"/>
          <p:cNvSpPr/>
          <p:nvPr/>
        </p:nvSpPr>
        <p:spPr>
          <a:xfrm>
            <a:off x="640080" y="3931920"/>
            <a:ext cx="5349240" cy="1874520"/>
          </a:xfrm>
          <a:prstGeom prst="roundRect">
            <a:avLst>
              <a:gd fmla="val 3902" name="adj"/>
            </a:avLst>
          </a:prstGeom>
          <a:solidFill>
            <a:srgbClr val="FFFFFF"/>
          </a:solidFill>
          <a:ln cap="flat" cmpd="sng" w="12700">
            <a:solidFill>
              <a:srgbClr val="DCE6E9"/>
            </a:solidFill>
            <a:prstDash val="solid"/>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
          <p:cNvSpPr/>
          <p:nvPr/>
        </p:nvSpPr>
        <p:spPr>
          <a:xfrm>
            <a:off x="1005840" y="4407408"/>
            <a:ext cx="868680" cy="868680"/>
          </a:xfrm>
          <a:prstGeom prst="ellipse">
            <a:avLst/>
          </a:prstGeom>
          <a:solidFill>
            <a:srgbClr val="E9B4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4" name="Google Shape;264;p13"/>
          <p:cNvPicPr preferRelativeResize="0"/>
          <p:nvPr/>
        </p:nvPicPr>
        <p:blipFill rotWithShape="1">
          <a:blip r:embed="rId5">
            <a:alphaModFix/>
          </a:blip>
          <a:srcRect b="0" l="0" r="0" t="0"/>
          <a:stretch/>
        </p:blipFill>
        <p:spPr>
          <a:xfrm>
            <a:off x="1223010" y="4624578"/>
            <a:ext cx="434340" cy="434340"/>
          </a:xfrm>
          <a:prstGeom prst="rect">
            <a:avLst/>
          </a:prstGeom>
          <a:noFill/>
          <a:ln>
            <a:noFill/>
          </a:ln>
        </p:spPr>
      </p:pic>
      <p:sp>
        <p:nvSpPr>
          <p:cNvPr id="265" name="Google Shape;265;p13"/>
          <p:cNvSpPr/>
          <p:nvPr/>
        </p:nvSpPr>
        <p:spPr>
          <a:xfrm>
            <a:off x="2103120" y="4297680"/>
            <a:ext cx="3611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700"/>
              <a:buFont typeface="Georgia"/>
              <a:buNone/>
            </a:pPr>
            <a:r>
              <a:rPr b="1" i="0" lang="en-US" sz="1700" u="none" cap="none" strike="noStrike">
                <a:solidFill>
                  <a:srgbClr val="0F2A38"/>
                </a:solidFill>
                <a:latin typeface="Georgia"/>
                <a:ea typeface="Georgia"/>
                <a:cs typeface="Georgia"/>
                <a:sym typeface="Georgia"/>
              </a:rPr>
              <a:t>Alles wird organisiert</a:t>
            </a:r>
            <a:endParaRPr b="0" i="0" sz="1700" u="none" cap="none" strike="noStrike">
              <a:solidFill>
                <a:schemeClr val="dk1"/>
              </a:solidFill>
              <a:latin typeface="Calibri"/>
              <a:ea typeface="Calibri"/>
              <a:cs typeface="Calibri"/>
              <a:sym typeface="Calibri"/>
            </a:endParaRPr>
          </a:p>
        </p:txBody>
      </p:sp>
      <p:sp>
        <p:nvSpPr>
          <p:cNvPr id="266" name="Google Shape;266;p13"/>
          <p:cNvSpPr/>
          <p:nvPr/>
        </p:nvSpPr>
        <p:spPr>
          <a:xfrm>
            <a:off x="2103120" y="4754880"/>
            <a:ext cx="3611880" cy="96012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Der Anbieter kümmert sich um Flug, Unterkunft, Fahrten und Programm. Sie müssen nicht alles allein planen.</a:t>
            </a:r>
            <a:endParaRPr b="0" i="0" sz="1350" u="none" cap="none" strike="noStrike">
              <a:solidFill>
                <a:schemeClr val="dk1"/>
              </a:solidFill>
              <a:latin typeface="Calibri"/>
              <a:ea typeface="Calibri"/>
              <a:cs typeface="Calibri"/>
              <a:sym typeface="Calibri"/>
            </a:endParaRPr>
          </a:p>
        </p:txBody>
      </p:sp>
      <p:sp>
        <p:nvSpPr>
          <p:cNvPr id="267" name="Google Shape;267;p13"/>
          <p:cNvSpPr/>
          <p:nvPr/>
        </p:nvSpPr>
        <p:spPr>
          <a:xfrm>
            <a:off x="6291072" y="3931920"/>
            <a:ext cx="5349240" cy="1874520"/>
          </a:xfrm>
          <a:prstGeom prst="roundRect">
            <a:avLst>
              <a:gd fmla="val 3902" name="adj"/>
            </a:avLst>
          </a:prstGeom>
          <a:solidFill>
            <a:srgbClr val="FFFFFF"/>
          </a:solidFill>
          <a:ln cap="flat" cmpd="sng" w="12700">
            <a:solidFill>
              <a:srgbClr val="DCE6E9"/>
            </a:solidFill>
            <a:prstDash val="solid"/>
            <a:round/>
            <a:headEnd len="sm" w="sm" type="none"/>
            <a:tailEnd len="sm" w="sm" type="none"/>
          </a:ln>
          <a:effectLst>
            <a:outerShdw blurRad="88900" rotWithShape="0" algn="bl" dir="8100000" dist="25400">
              <a:srgbClr val="0A2A3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3"/>
          <p:cNvSpPr/>
          <p:nvPr/>
        </p:nvSpPr>
        <p:spPr>
          <a:xfrm>
            <a:off x="6656832" y="4407408"/>
            <a:ext cx="868680" cy="868680"/>
          </a:xfrm>
          <a:prstGeom prst="ellipse">
            <a:avLst/>
          </a:prstGeom>
          <a:solidFill>
            <a:srgbClr val="C049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9" name="Google Shape;269;p13"/>
          <p:cNvPicPr preferRelativeResize="0"/>
          <p:nvPr/>
        </p:nvPicPr>
        <p:blipFill rotWithShape="1">
          <a:blip r:embed="rId6">
            <a:alphaModFix/>
          </a:blip>
          <a:srcRect b="0" l="0" r="0" t="0"/>
          <a:stretch/>
        </p:blipFill>
        <p:spPr>
          <a:xfrm>
            <a:off x="6874002" y="4624578"/>
            <a:ext cx="434340" cy="434340"/>
          </a:xfrm>
          <a:prstGeom prst="rect">
            <a:avLst/>
          </a:prstGeom>
          <a:noFill/>
          <a:ln>
            <a:noFill/>
          </a:ln>
        </p:spPr>
      </p:pic>
      <p:sp>
        <p:nvSpPr>
          <p:cNvPr id="270" name="Google Shape;270;p13"/>
          <p:cNvSpPr/>
          <p:nvPr/>
        </p:nvSpPr>
        <p:spPr>
          <a:xfrm>
            <a:off x="7754112" y="4297680"/>
            <a:ext cx="3611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38"/>
              </a:buClr>
              <a:buSzPts val="1700"/>
              <a:buFont typeface="Georgia"/>
              <a:buNone/>
            </a:pPr>
            <a:r>
              <a:rPr b="1" i="0" lang="en-US" sz="1700" u="none" cap="none" strike="noStrike">
                <a:solidFill>
                  <a:srgbClr val="0F2A38"/>
                </a:solidFill>
                <a:latin typeface="Georgia"/>
                <a:ea typeface="Georgia"/>
                <a:cs typeface="Georgia"/>
                <a:sym typeface="Georgia"/>
              </a:rPr>
              <a:t>Eigene Zimmer für Sie</a:t>
            </a:r>
            <a:endParaRPr b="0" i="0" sz="1700" u="none" cap="none" strike="noStrike">
              <a:solidFill>
                <a:schemeClr val="dk1"/>
              </a:solidFill>
              <a:latin typeface="Calibri"/>
              <a:ea typeface="Calibri"/>
              <a:cs typeface="Calibri"/>
              <a:sym typeface="Calibri"/>
            </a:endParaRPr>
          </a:p>
        </p:txBody>
      </p:sp>
      <p:sp>
        <p:nvSpPr>
          <p:cNvPr id="271" name="Google Shape;271;p13"/>
          <p:cNvSpPr/>
          <p:nvPr/>
        </p:nvSpPr>
        <p:spPr>
          <a:xfrm>
            <a:off x="7754112" y="4754880"/>
            <a:ext cx="3611880" cy="96012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5B7682"/>
              </a:buClr>
              <a:buSzPts val="1350"/>
              <a:buFont typeface="Calibri"/>
              <a:buNone/>
            </a:pPr>
            <a:r>
              <a:rPr b="0" i="0" lang="en-US" sz="1350" u="none" cap="none" strike="noStrike">
                <a:solidFill>
                  <a:srgbClr val="5B7682"/>
                </a:solidFill>
                <a:latin typeface="Calibri"/>
                <a:ea typeface="Calibri"/>
                <a:cs typeface="Calibri"/>
                <a:sym typeface="Calibri"/>
              </a:rPr>
              <a:t>Für die Lehrerinnen und Lehrer gibt es Einzelzimmer, und das Programm steht schon vor der Fahrt fest.</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4D68"/>
        </a:solidFill>
      </p:bgPr>
    </p:bg>
    <p:spTree>
      <p:nvGrpSpPr>
        <p:cNvPr id="276" name="Shape 276"/>
        <p:cNvGrpSpPr/>
        <p:nvPr/>
      </p:nvGrpSpPr>
      <p:grpSpPr>
        <a:xfrm>
          <a:off x="0" y="0"/>
          <a:ext cx="0" cy="0"/>
          <a:chOff x="0" y="0"/>
          <a:chExt cx="0" cy="0"/>
        </a:xfrm>
      </p:grpSpPr>
      <p:sp>
        <p:nvSpPr>
          <p:cNvPr id="277" name="Google Shape;277;p14"/>
          <p:cNvSpPr/>
          <p:nvPr/>
        </p:nvSpPr>
        <p:spPr>
          <a:xfrm>
            <a:off x="10332720" y="5212080"/>
            <a:ext cx="3017520" cy="3017520"/>
          </a:xfrm>
          <a:prstGeom prst="ellipse">
            <a:avLst/>
          </a:prstGeom>
          <a:solidFill>
            <a:srgbClr val="E9B44C">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4"/>
          <p:cNvSpPr/>
          <p:nvPr/>
        </p:nvSpPr>
        <p:spPr>
          <a:xfrm>
            <a:off x="10332720" y="-1280160"/>
            <a:ext cx="3108960" cy="3108960"/>
          </a:xfrm>
          <a:prstGeom prst="ellipse">
            <a:avLst/>
          </a:prstGeom>
          <a:solidFill>
            <a:srgbClr val="088395">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4"/>
          <p:cNvSpPr/>
          <p:nvPr/>
        </p:nvSpPr>
        <p:spPr>
          <a:xfrm>
            <a:off x="640080" y="1097280"/>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1250"/>
              <a:buFont typeface="Calibri"/>
              <a:buNone/>
            </a:pPr>
            <a:r>
              <a:rPr b="1" i="0" lang="en-US" sz="1250" u="none" cap="none" strike="noStrike">
                <a:solidFill>
                  <a:srgbClr val="E9B44C"/>
                </a:solidFill>
                <a:latin typeface="Calibri"/>
                <a:ea typeface="Calibri"/>
                <a:cs typeface="Calibri"/>
                <a:sym typeface="Calibri"/>
              </a:rPr>
              <a:t>UNSERE BITTE</a:t>
            </a:r>
            <a:endParaRPr b="0" i="0" sz="1250" u="none" cap="none" strike="noStrike">
              <a:solidFill>
                <a:schemeClr val="dk1"/>
              </a:solidFill>
              <a:latin typeface="Calibri"/>
              <a:ea typeface="Calibri"/>
              <a:cs typeface="Calibri"/>
              <a:sym typeface="Calibri"/>
            </a:endParaRPr>
          </a:p>
        </p:txBody>
      </p:sp>
      <p:sp>
        <p:nvSpPr>
          <p:cNvPr id="280" name="Google Shape;280;p14"/>
          <p:cNvSpPr/>
          <p:nvPr/>
        </p:nvSpPr>
        <p:spPr>
          <a:xfrm>
            <a:off x="640080" y="1508760"/>
            <a:ext cx="1051560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Georgia"/>
              <a:buNone/>
            </a:pPr>
            <a:r>
              <a:rPr b="1" i="0" lang="en-US" sz="4000" u="none" cap="none" strike="noStrike">
                <a:solidFill>
                  <a:srgbClr val="FFFFFF"/>
                </a:solidFill>
                <a:latin typeface="Georgia"/>
                <a:ea typeface="Georgia"/>
                <a:cs typeface="Georgia"/>
                <a:sym typeface="Georgia"/>
              </a:rPr>
              <a:t>Dürfen wir Angebote</a:t>
            </a:r>
            <a:endParaRPr b="0" i="0" sz="4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4000"/>
              <a:buFont typeface="Georgia"/>
              <a:buNone/>
            </a:pPr>
            <a:r>
              <a:rPr b="1" i="0" lang="en-US" sz="4000" u="none" cap="none" strike="noStrike">
                <a:solidFill>
                  <a:srgbClr val="FFFFFF"/>
                </a:solidFill>
                <a:latin typeface="Georgia"/>
                <a:ea typeface="Georgia"/>
                <a:cs typeface="Georgia"/>
                <a:sym typeface="Georgia"/>
              </a:rPr>
              <a:t>einholen?</a:t>
            </a:r>
            <a:endParaRPr b="0" i="0" sz="4000" u="none" cap="none" strike="noStrike">
              <a:solidFill>
                <a:schemeClr val="dk1"/>
              </a:solidFill>
              <a:latin typeface="Calibri"/>
              <a:ea typeface="Calibri"/>
              <a:cs typeface="Calibri"/>
              <a:sym typeface="Calibri"/>
            </a:endParaRPr>
          </a:p>
        </p:txBody>
      </p:sp>
      <p:sp>
        <p:nvSpPr>
          <p:cNvPr id="281" name="Google Shape;281;p14"/>
          <p:cNvSpPr/>
          <p:nvPr/>
        </p:nvSpPr>
        <p:spPr>
          <a:xfrm>
            <a:off x="640080" y="3200400"/>
            <a:ext cx="10058400" cy="10972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1AABF"/>
              </a:buClr>
              <a:buSzPts val="1650"/>
              <a:buFont typeface="Calibri"/>
              <a:buNone/>
            </a:pPr>
            <a:r>
              <a:rPr b="0" i="0" lang="en-US" sz="1650" u="none" cap="none" strike="noStrike">
                <a:solidFill>
                  <a:srgbClr val="41AABF"/>
                </a:solidFill>
                <a:latin typeface="Calibri"/>
                <a:ea typeface="Calibri"/>
                <a:cs typeface="Calibri"/>
                <a:sym typeface="Calibri"/>
              </a:rPr>
              <a:t>Wenn Sie einverstanden sind, fragen wir bei zwei oder drei Anbietern nach einem festen Preis. Dann sehen wir genau, was es kostet, und können zusammen entscheiden. Wir würden uns sehr über diese Klassenfahrt freuen.</a:t>
            </a:r>
            <a:endParaRPr b="0" i="0" sz="1650" u="none" cap="none" strike="noStrike">
              <a:solidFill>
                <a:schemeClr val="dk1"/>
              </a:solidFill>
              <a:latin typeface="Calibri"/>
              <a:ea typeface="Calibri"/>
              <a:cs typeface="Calibri"/>
              <a:sym typeface="Calibri"/>
            </a:endParaRPr>
          </a:p>
        </p:txBody>
      </p:sp>
      <p:cxnSp>
        <p:nvCxnSpPr>
          <p:cNvPr id="282" name="Google Shape;282;p14"/>
          <p:cNvCxnSpPr/>
          <p:nvPr/>
        </p:nvCxnSpPr>
        <p:spPr>
          <a:xfrm>
            <a:off x="640080" y="4617720"/>
            <a:ext cx="10972800" cy="0"/>
          </a:xfrm>
          <a:prstGeom prst="straightConnector1">
            <a:avLst/>
          </a:prstGeom>
          <a:noFill/>
          <a:ln cap="flat" cmpd="sng" w="12700">
            <a:solidFill>
              <a:srgbClr val="088395"/>
            </a:solidFill>
            <a:prstDash val="solid"/>
            <a:round/>
            <a:headEnd len="sm" w="sm" type="none"/>
            <a:tailEnd len="sm" w="sm" type="none"/>
          </a:ln>
        </p:spPr>
      </p:cxnSp>
      <p:sp>
        <p:nvSpPr>
          <p:cNvPr id="283" name="Google Shape;283;p14"/>
          <p:cNvSpPr/>
          <p:nvPr/>
        </p:nvSpPr>
        <p:spPr>
          <a:xfrm>
            <a:off x="640080" y="484632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D8E0"/>
              </a:buClr>
              <a:buSzPts val="1500"/>
              <a:buFont typeface="Calibri"/>
              <a:buNone/>
            </a:pPr>
            <a:r>
              <a:rPr b="1" i="0" lang="en-US" sz="1500" u="none" cap="none" strike="noStrike">
                <a:solidFill>
                  <a:srgbClr val="BFD8E0"/>
                </a:solidFill>
                <a:latin typeface="Calibri"/>
                <a:ea typeface="Calibri"/>
                <a:cs typeface="Calibri"/>
                <a:sym typeface="Calibri"/>
              </a:rPr>
              <a:t>65 Personen   ·   5 Tage   ·   ab ca. 300 € pro Person   ·   Spanisch, Latein und unsere Klassen</a:t>
            </a:r>
            <a:endParaRPr b="0" i="0" sz="1500" u="none" cap="none" strike="noStrike">
              <a:solidFill>
                <a:schemeClr val="dk1"/>
              </a:solidFill>
              <a:latin typeface="Calibri"/>
              <a:ea typeface="Calibri"/>
              <a:cs typeface="Calibri"/>
              <a:sym typeface="Calibri"/>
            </a:endParaRPr>
          </a:p>
        </p:txBody>
      </p:sp>
      <p:sp>
        <p:nvSpPr>
          <p:cNvPr id="284" name="Google Shape;284;p14"/>
          <p:cNvSpPr/>
          <p:nvPr/>
        </p:nvSpPr>
        <p:spPr>
          <a:xfrm>
            <a:off x="640080" y="5486400"/>
            <a:ext cx="10058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E6EC"/>
              </a:buClr>
              <a:buSzPts val="1600"/>
              <a:buFont typeface="Calibri"/>
              <a:buNone/>
            </a:pPr>
            <a:r>
              <a:rPr b="0" i="1" lang="en-US" sz="1600" u="none" cap="none" strike="noStrike">
                <a:solidFill>
                  <a:srgbClr val="CFE6EC"/>
                </a:solidFill>
                <a:latin typeface="Calibri"/>
                <a:ea typeface="Calibri"/>
                <a:cs typeface="Calibri"/>
                <a:sym typeface="Calibri"/>
              </a:rPr>
              <a:t>Vielen Dank, dass Sie sich unsere Idee angesehen haben.</a:t>
            </a:r>
            <a:endParaRPr b="0" i="0" sz="1600" u="none" cap="none" strike="noStrike">
              <a:solidFill>
                <a:schemeClr val="dk1"/>
              </a:solidFill>
              <a:latin typeface="Calibri"/>
              <a:ea typeface="Calibri"/>
              <a:cs typeface="Calibri"/>
              <a:sym typeface="Calibri"/>
            </a:endParaRPr>
          </a:p>
        </p:txBody>
      </p:sp>
      <p:sp>
        <p:nvSpPr>
          <p:cNvPr id="285" name="Google Shape;285;p14"/>
          <p:cNvSpPr/>
          <p:nvPr/>
        </p:nvSpPr>
        <p:spPr>
          <a:xfrm>
            <a:off x="640080" y="5989320"/>
            <a:ext cx="10058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B44C"/>
              </a:buClr>
              <a:buSzPts val="2800"/>
              <a:buFont typeface="Georgia"/>
              <a:buNone/>
            </a:pPr>
            <a:r>
              <a:rPr b="1" i="1" lang="en-US" sz="2800" u="none" cap="none" strike="noStrike">
                <a:solidFill>
                  <a:srgbClr val="E9B44C"/>
                </a:solidFill>
                <a:latin typeface="Georgia"/>
                <a:ea typeface="Georgia"/>
                <a:cs typeface="Georgia"/>
                <a:sym typeface="Georgia"/>
              </a:rPr>
              <a:t>¡Vamos a Mallorca!</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